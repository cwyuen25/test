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1BE48-3131-41D9-977A-DDB19CE181F1}" type="datetimeFigureOut"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D277E-1E47-4FC9-8E85-B0C3D8C9AE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5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screenshot supplied by Tripolr founder.
CCMF programme criteria and three-month launch preference: Cyberport Hong Kong Programme webpage, accessed 22 July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Problem framing is based on founder observations and initial UAT; further structured validation is planned during CCMF.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Tester count and UAT learning supplied by Tripolr founder.
Target segment and validation sequence are project strategy assumptions to be tested during CCMF.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Hong Kong resident departures: ITE Hong Kong, Hong Kong Outbound Report, 17 July 2025, citing UNWTO Tourism Barometer May 2025. https://www.itehk.com/travelexpo/doc/press/HK_Outbound_Report-Jul25_en.pdf
Travel research time and page views: Expedia Group and Luth Research, Path to Purchase, 25 July 2023. https://www.expedia.com/newsroom/eg-path-to-purchase-research/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screenshots supplied by Tripolr founder.
Current feature status supplied by Tripolr founder.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Pilot targets are proposed objectives in the revised CCMF application and are not current traction figures.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Current and planned capabilities supplied by Tripolr founder and clarified in the revised CCMF application.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Wanderlog official website and AI assistant page, accessed 22 July 2026: https://wanderlog.com/ and https://wanderlog.com/trip-plan-assistant/
Mindtrip official website, accessed 22 July 2026: https://mindtrip.ai/home
Layla official website, accessed 22 July 2026: https://layla.ai/
Competitor capabilities can change. The table uses conservative public-feature descriptions and should be rechecked near submission.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Business model and phased monetisation approach are project assumptions to be tested after core product validation.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Roadmap and pilot channels are proposed in the revised CCMF application.
CCMF prefers projects able to launch within three months after grant disbursement: Cyberport Hong Kong Programme webpage, accessed 22 July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Funding allocation supplied by Tripolr founder and converted from percentages into HKD amounts.
CCMF grant amount of up to HK$100,000: Cyberport Hong Kong Programme webpage, accessed 22 July 2026.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Founder background, technology stack, commitment and prototype status supplied by Tripolr founder.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screenshot supplied by Tripolr founder.
Three-month MVP and six-month pilot targets are proposed outcomes in the revised CCMF application.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47104"/>
            <a:ext cx="1120140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8368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b="1" kern="0" spc="110" dirty="0">
                <a:solidFill>
                  <a:srgbClr val="7B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TRIPOLR  |  CCMF HONG KONG PROGRAMME</a:t>
            </a:r>
            <a:endParaRPr lang="en-US" sz="570" dirty="0"/>
          </a:p>
        </p:txBody>
      </p:sp>
      <p:sp>
        <p:nvSpPr>
          <p:cNvPr id="4" name="Text 2"/>
          <p:cNvSpPr/>
          <p:nvPr/>
        </p:nvSpPr>
        <p:spPr>
          <a:xfrm>
            <a:off x="10881360" y="658368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dirty="0">
                <a:solidFill>
                  <a:srgbClr val="7B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77A7FF"/>
                </a:solidFill>
              </a:rPr>
              <a:t>TRIPOLR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</a:rPr>
              <a:t>Turn group travel ideas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</a:rPr>
              <a:t>into one workable itinerary.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8E6F3"/>
                </a:solidFill>
              </a:rPr>
              <a:t>A collaborative planning workflow that connects social discovery, group decisions and practical itinerary building.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703320"/>
            <a:ext cx="2057400" cy="292608"/>
          </a:xfrm>
          <a:prstGeom prst="roundRect">
            <a:avLst>
              <a:gd name="adj" fmla="val 25000"/>
            </a:avLst>
          </a:prstGeom>
          <a:solidFill>
            <a:srgbClr val="28577D"/>
          </a:solidFill>
          <a:ln w="12700">
            <a:solidFill>
              <a:srgbClr val="2857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67328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WORKING WEB PROTOTYPE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2834640" y="3703320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6B4B24"/>
          </a:solidFill>
          <a:ln w="12700">
            <a:solidFill>
              <a:srgbClr val="6B4B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376732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E2B7"/>
                </a:solidFill>
              </a:rPr>
              <a:t>UAT IN PROGRESS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658368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Yuen Chi Wang  |  Founder &amp; Project Lead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5184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2D4"/>
                </a:solidFill>
              </a:rPr>
              <a:t>uat.tripolr.com  |  CCMF Hong Kong Programme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44768" y="1078992"/>
            <a:ext cx="5413248" cy="3456432"/>
          </a:xfrm>
          <a:prstGeom prst="roundRect">
            <a:avLst>
              <a:gd name="adj" fmla="val 2116"/>
            </a:avLst>
          </a:prstGeom>
          <a:solidFill>
            <a:srgbClr val="F8FBFF"/>
          </a:solidFill>
          <a:ln w="12700">
            <a:solidFill>
              <a:srgbClr val="7B9B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261872"/>
            <a:ext cx="5047488" cy="3054096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12700">
            <a:solidFill>
              <a:srgbClr val="B9C9D8"/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27648" y="1261872"/>
            <a:ext cx="5047488" cy="256032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344168"/>
            <a:ext cx="73152" cy="73152"/>
          </a:xfrm>
          <a:prstGeom prst="ellipse">
            <a:avLst/>
          </a:prstGeom>
          <a:solidFill>
            <a:srgbClr val="E56A6A"/>
          </a:solidFill>
          <a:ln w="12700">
            <a:solidFill>
              <a:srgbClr val="E56A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8544" y="1344168"/>
            <a:ext cx="73152" cy="73152"/>
          </a:xfrm>
          <a:prstGeom prst="ellipse">
            <a:avLst/>
          </a:prstGeom>
          <a:solidFill>
            <a:srgbClr val="E8B84E"/>
          </a:solidFill>
          <a:ln w="12700">
            <a:solidFill>
              <a:srgbClr val="E8B8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136" y="1344168"/>
            <a:ext cx="73152" cy="73152"/>
          </a:xfrm>
          <a:prstGeom prst="ellipse">
            <a:avLst/>
          </a:prstGeom>
          <a:solidFill>
            <a:srgbClr val="61B875"/>
          </a:solidFill>
          <a:ln w="12700">
            <a:solidFill>
              <a:srgbClr val="61B875"/>
            </a:solidFill>
            <a:prstDash val="solid"/>
          </a:ln>
        </p:spPr>
      </p:sp>
      <p:pic>
        <p:nvPicPr>
          <p:cNvPr id="18" name="Image 0" descr="/mnt/data/cap_screen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01596"/>
            <a:ext cx="4809744" cy="234721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43800" y="4041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283B"/>
                </a:solidFill>
              </a:rPr>
              <a:t>Current UAT dashboard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Group travel planning breaks between inspiration and 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The issue is not a lack of travel content. It is the manual work required to turn scattered inputs into one agreed, workable plan.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880360" cy="2514600"/>
          </a:xfrm>
          <a:prstGeom prst="roundRect">
            <a:avLst>
              <a:gd name="adj" fmla="val 2909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8483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48840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1  DISCOVER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914400" y="267919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Ideas arrive everywhere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B6777"/>
                </a:solidFill>
              </a:rPr>
              <a:t>Instagram, Threads, maps and booking sites each contribute different information.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776472" y="3090672"/>
            <a:ext cx="621792" cy="0"/>
          </a:xfrm>
          <a:prstGeom prst="line">
            <a:avLst/>
          </a:prstGeom>
          <a:noFill/>
          <a:ln w="38100">
            <a:solidFill>
              <a:srgbClr val="77A7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45152" y="1828800"/>
            <a:ext cx="2880360" cy="2514600"/>
          </a:xfrm>
          <a:prstGeom prst="roundRect">
            <a:avLst>
              <a:gd name="adj" fmla="val 290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208483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2148840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2  COORDINATE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4901184" y="267919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The group negotiates manually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01184" y="345643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B6777"/>
                </a:solidFill>
              </a:rPr>
              <a:t>Messages, notes and spreadsheets carry preferences, budgets and approvals.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763256" y="3090672"/>
            <a:ext cx="621792" cy="0"/>
          </a:xfrm>
          <a:prstGeom prst="line">
            <a:avLst/>
          </a:prstGeom>
          <a:noFill/>
          <a:ln w="38100">
            <a:solidFill>
              <a:srgbClr val="77A7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31936" y="1828800"/>
            <a:ext cx="2880360" cy="2514600"/>
          </a:xfrm>
          <a:prstGeom prst="roundRect">
            <a:avLst>
              <a:gd name="adj" fmla="val 2909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87968" y="208483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148840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3  BUILD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887968" y="267919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Someone assembles the trip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87968" y="345643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B6777"/>
                </a:solidFill>
              </a:rPr>
              <a:t>Places must be checked, ordered and converted into a realistic itinerary.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96112" y="411480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3B82F6"/>
                </a:solidFill>
              </a:rPr>
              <a:t>SOCIAL  •  MAPS  •  BOOKING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92040" y="411480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9A5A1A"/>
                </a:solidFill>
              </a:rPr>
              <a:t>CHAT  •  NOTES  •  SHEETS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878824" y="411480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2F855A"/>
                </a:solidFill>
              </a:rPr>
              <a:t>VERIFY  •  ROUTE  •  EDIT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67512" y="4709160"/>
            <a:ext cx="10835640" cy="841248"/>
          </a:xfrm>
          <a:prstGeom prst="roundRect">
            <a:avLst>
              <a:gd name="adj" fmla="val 8696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9651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7A7FF"/>
                </a:solidFill>
              </a:rPr>
              <a:t>THE OPPORTUNITY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51760" y="48828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Connect discovery, group decisions and itinerary building in one shared workflow.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BEACHHEAD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Start with one reachable group-planning segment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University student groups first; family use cases follow after the core journey is simplified.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9834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75688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INITIAL BEACHHEAD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212B"/>
                </a:solidFill>
              </a:rPr>
              <a:t>Hong Kong university students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7212B"/>
                </a:solidFill>
              </a:rPr>
              <a:t>planning outbound trips with friends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33832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33832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12B"/>
                </a:solidFill>
              </a:rPr>
              <a:t>Social-media-led discovery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37673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37673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12B"/>
                </a:solidFill>
              </a:rPr>
              <a:t>Collaborative decisions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41513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415137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12B"/>
                </a:solidFill>
              </a:rPr>
              <a:t>Budget and schedule constraints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45354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53542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12B"/>
                </a:solidFill>
              </a:rPr>
              <a:t>Reachable through campus communities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97880" y="1783080"/>
            <a:ext cx="2331720" cy="3337560"/>
          </a:xfrm>
          <a:prstGeom prst="roundRect">
            <a:avLst>
              <a:gd name="adj" fmla="val 3137"/>
            </a:avLst>
          </a:prstGeom>
          <a:solidFill>
            <a:srgbClr val="EAF2FF"/>
          </a:solidFill>
          <a:ln w="12700">
            <a:solidFill>
              <a:srgbClr val="BDD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2011680"/>
            <a:ext cx="1536192" cy="292608"/>
          </a:xfrm>
          <a:prstGeom prst="roundRect">
            <a:avLst>
              <a:gd name="adj" fmla="val 25000"/>
            </a:avLst>
          </a:prstGeom>
          <a:solidFill>
            <a:srgbClr val="DDEAFF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75688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CURRENT EVIDENCE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6172200" y="25968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3B82F6"/>
                </a:solidFill>
              </a:rPr>
              <a:t>~10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6172200" y="3127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12B"/>
                </a:solidFill>
              </a:rPr>
              <a:t>initial testers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91072" y="3538728"/>
            <a:ext cx="1508760" cy="0"/>
          </a:xfrm>
          <a:prstGeom prst="line">
            <a:avLst/>
          </a:prstGeom>
          <a:noFill/>
          <a:ln w="12700">
            <a:solidFill>
              <a:srgbClr val="BDD3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Learning so far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4133088"/>
            <a:ext cx="1664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7212B"/>
                </a:solidFill>
              </a:rPr>
              <a:t>Core functions work. The journey needs to be simpler and more intuitive.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03920" y="1783080"/>
            <a:ext cx="3017520" cy="3337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796528" y="20116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207568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SECOND SEGMENT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8796528" y="25328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Hong Kong families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796528" y="29900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7"/>
                </a:solidFill>
              </a:rPr>
              <a:t>Validate after the core workflow is stable.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23960" y="3675888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3630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7212B"/>
                </a:solidFill>
              </a:rPr>
              <a:t>Different ages and interests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823960" y="4069080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7212B"/>
                </a:solidFill>
              </a:rPr>
              <a:t>Accessibility and travel pace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823960" y="4462272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4416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7212B"/>
                </a:solidFill>
              </a:rPr>
              <a:t>Higher need for reliable schedules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868680" y="55138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83B"/>
                </a:solidFill>
              </a:rPr>
              <a:t>CCMF validation question: Do groups return to plan and edit a real trip together?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MARKET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Travel demand is large, while planning remains fragmented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Use market evidence to validate the problem, not to overstate Tripolr's obtainable revenue.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063240" cy="2121408"/>
          </a:xfrm>
          <a:prstGeom prst="roundRect">
            <a:avLst>
              <a:gd name="adj" fmla="val 3448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39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104.7M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12B"/>
                </a:solidFill>
              </a:rPr>
              <a:t>HK resident departures in 2024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3218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777"/>
                </a:solidFill>
              </a:rPr>
              <a:t>110.6% of the 2019 level. This measures departures, not unique trips.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96512" y="1828800"/>
            <a:ext cx="3063240" cy="2121408"/>
          </a:xfrm>
          <a:prstGeom prst="roundRect">
            <a:avLst>
              <a:gd name="adj" fmla="val 3448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2139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A5A1A"/>
                </a:solidFill>
              </a:rPr>
              <a:t>5+ hrs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52544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12B"/>
                </a:solidFill>
              </a:rPr>
              <a:t>average travel research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3218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777"/>
                </a:solidFill>
              </a:rPr>
              <a:t>Across seven surveyed markets during the 45 days before booking.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34656" y="1828800"/>
            <a:ext cx="3063240" cy="2121408"/>
          </a:xfrm>
          <a:prstGeom prst="roundRect">
            <a:avLst>
              <a:gd name="adj" fmla="val 3448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2139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55A"/>
                </a:solidFill>
              </a:rPr>
              <a:t>141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790688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12B"/>
                </a:solidFill>
              </a:rPr>
              <a:t>pages viewed before booking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27264" y="321868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6777"/>
                </a:solidFill>
              </a:rPr>
              <a:t>Average across seven markets. U.S. travellers reached 277 pages.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" y="434340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994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7A7FF"/>
                </a:solidFill>
              </a:rPr>
              <a:t>WHAT THIS SUPPORTS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4517136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high-frequency outbound market and a research-heavy digital journey create room for a simpler collaborative workflow.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61488" y="501091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8E8"/>
                </a:solidFill>
              </a:rPr>
              <a:t>CCMF focus: prove adoption with Hong Kong student groups before making broader market-share claims.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Show the complete journey at presentation scale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Two full-width prototype views demonstrate the core value without shrinking interface text into small cards.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5321808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9D8E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4992624" cy="219456"/>
          </a:xfrm>
          <a:prstGeom prst="rect">
            <a:avLst/>
          </a:prstGeom>
          <a:solidFill>
            <a:srgbClr val="E9EFF5"/>
          </a:solidFill>
          <a:ln w="7620">
            <a:solidFill>
              <a:srgbClr val="C9D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993392"/>
            <a:ext cx="54864" cy="54864"/>
          </a:xfrm>
          <a:prstGeom prst="ellipse">
            <a:avLst/>
          </a:prstGeom>
          <a:solidFill>
            <a:srgbClr val="E56A6A"/>
          </a:solidFill>
          <a:ln w="12700">
            <a:solidFill>
              <a:srgbClr val="E56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" y="1993392"/>
            <a:ext cx="54864" cy="54864"/>
          </a:xfrm>
          <a:prstGeom prst="ellipse">
            <a:avLst/>
          </a:prstGeom>
          <a:solidFill>
            <a:srgbClr val="E8B84E"/>
          </a:solidFill>
          <a:ln w="12700">
            <a:solidFill>
              <a:srgbClr val="E8B8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993392"/>
            <a:ext cx="54864" cy="54864"/>
          </a:xfrm>
          <a:prstGeom prst="ellipse">
            <a:avLst/>
          </a:prstGeom>
          <a:solidFill>
            <a:srgbClr val="61B875"/>
          </a:solidFill>
          <a:ln w="12700">
            <a:solidFill>
              <a:srgbClr val="61B875"/>
            </a:solidFill>
            <a:prstDash val="solid"/>
          </a:ln>
        </p:spPr>
      </p:sp>
      <p:pic>
        <p:nvPicPr>
          <p:cNvPr id="10" name="Image 0" descr="/mnt/data/cap_screen_extract/word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85988"/>
            <a:ext cx="4992624" cy="24403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9536" y="468172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316736" y="46451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Capture travel inspiration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9536" y="4937760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777"/>
                </a:solidFill>
              </a:rPr>
              <a:t>Extract a supported social post into structured place information.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6199632" y="1755648"/>
            <a:ext cx="5321808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9D8E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1920240"/>
            <a:ext cx="4992624" cy="219456"/>
          </a:xfrm>
          <a:prstGeom prst="rect">
            <a:avLst/>
          </a:prstGeom>
          <a:solidFill>
            <a:srgbClr val="E9EFF5"/>
          </a:solidFill>
          <a:ln w="7620">
            <a:solidFill>
              <a:srgbClr val="C9D5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83096" y="1993392"/>
            <a:ext cx="54864" cy="54864"/>
          </a:xfrm>
          <a:prstGeom prst="ellipse">
            <a:avLst/>
          </a:prstGeom>
          <a:solidFill>
            <a:srgbClr val="E56A6A"/>
          </a:solidFill>
          <a:ln w="12700">
            <a:solidFill>
              <a:srgbClr val="E56A6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9400" y="1993392"/>
            <a:ext cx="54864" cy="54864"/>
          </a:xfrm>
          <a:prstGeom prst="ellipse">
            <a:avLst/>
          </a:prstGeom>
          <a:solidFill>
            <a:srgbClr val="E8B84E"/>
          </a:solidFill>
          <a:ln w="12700">
            <a:solidFill>
              <a:srgbClr val="E8B8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75704" y="1993392"/>
            <a:ext cx="54864" cy="54864"/>
          </a:xfrm>
          <a:prstGeom prst="ellipse">
            <a:avLst/>
          </a:prstGeom>
          <a:solidFill>
            <a:srgbClr val="61B875"/>
          </a:solidFill>
          <a:ln w="12700">
            <a:solidFill>
              <a:srgbClr val="61B875"/>
            </a:solidFill>
            <a:prstDash val="solid"/>
          </a:ln>
        </p:spPr>
      </p:sp>
      <p:pic>
        <p:nvPicPr>
          <p:cNvPr id="19" name="Image 1" descr="/mnt/data/cap_screen_extract/word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186639"/>
            <a:ext cx="4992624" cy="24390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00800" y="468172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02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858000" y="46451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Create an editable itinerary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0" y="4937760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B6777"/>
                </a:solidFill>
              </a:rPr>
              <a:t>Turn selected places into a practical plan that the group can review and edit.</a:t>
            </a:r>
            <a:endParaRPr lang="en-US" sz="840" dirty="0"/>
          </a:p>
        </p:txBody>
      </p:sp>
      <p:sp>
        <p:nvSpPr>
          <p:cNvPr id="23" name="Shape 19"/>
          <p:cNvSpPr/>
          <p:nvPr/>
        </p:nvSpPr>
        <p:spPr>
          <a:xfrm>
            <a:off x="6007608" y="3127248"/>
            <a:ext cx="16459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713232" y="5623560"/>
            <a:ext cx="2057400" cy="292608"/>
          </a:xfrm>
          <a:prstGeom prst="roundRect">
            <a:avLst>
              <a:gd name="adj" fmla="val 250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86384" y="5687568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AVAILABLE IN CURRENT PROTOTYPE</a:t>
            </a:r>
            <a:endParaRPr lang="en-US" sz="760" dirty="0"/>
          </a:p>
        </p:txBody>
      </p:sp>
      <p:sp>
        <p:nvSpPr>
          <p:cNvPr id="26" name="Text 22"/>
          <p:cNvSpPr/>
          <p:nvPr/>
        </p:nvSpPr>
        <p:spPr>
          <a:xfrm>
            <a:off x="2971800" y="56509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17212B"/>
                </a:solidFill>
              </a:rPr>
              <a:t>Place saving  •  social extraction  •  AI itinerary generation  •  real-time collection  •  collaborative editing</a:t>
            </a:r>
            <a:endParaRPr lang="en-US" sz="9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Turn UAT feedback into measurable pilot evidence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Current traction is early. The CCMF pilot will establish behavioural baselines rather than rely on registrations alone.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93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50+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72768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pilot users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93008" y="1792224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1993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20+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07408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actively planned trips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27648" y="1792224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993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10+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42048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multi-user trips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62288" y="1792224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1993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76688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8E6F3"/>
                </a:solidFill>
              </a:rPr>
              <a:t>stable web MVP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3101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3B82F6"/>
                </a:solidFill>
              </a:rPr>
              <a:t>MEASURE THE FUNNEL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1938528" cy="713232"/>
          </a:xfrm>
          <a:prstGeom prst="chevron">
            <a:avLst/>
          </a:prstGeom>
          <a:solidFill>
            <a:srgbClr val="DCEA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858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Create a trip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3749040"/>
            <a:ext cx="1938528" cy="713232"/>
          </a:xfrm>
          <a:prstGeom prst="chevron">
            <a:avLst/>
          </a:prstGeom>
          <a:solidFill>
            <a:srgbClr val="DCEA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858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Save places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66360" y="3749040"/>
            <a:ext cx="1938528" cy="713232"/>
          </a:xfrm>
          <a:prstGeom prst="chevron">
            <a:avLst/>
          </a:prstGeom>
          <a:solidFill>
            <a:srgbClr val="BDD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858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Invite a collaborator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3749040"/>
            <a:ext cx="1938528" cy="713232"/>
          </a:xfrm>
          <a:prstGeom prst="chevron">
            <a:avLst/>
          </a:prstGeom>
          <a:solidFill>
            <a:srgbClr val="BDD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9792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18120" y="3858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</a:rPr>
              <a:t>Generate an itinerary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46920" y="3749040"/>
            <a:ext cx="1938528" cy="713232"/>
          </a:xfrm>
          <a:prstGeom prst="chevron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20072" y="38679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0" y="3858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Return to edit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5800" y="475488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1F6FC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496519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83B"/>
                </a:solidFill>
              </a:rPr>
              <a:t>Success means evidence of collaborative behaviour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4919472"/>
            <a:ext cx="7205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B6777"/>
                </a:solidFill>
              </a:rPr>
              <a:t>Core-flow completion  •  collaborator invitations  •  return editing  •  time to first itinerary  •  user satisfaction  •  booking interest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713232" y="5870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5B6777"/>
                </a:solidFill>
              </a:rPr>
              <a:t>Pilot targets are objectives, not current traction.</a:t>
            </a:r>
            <a:endParaRPr lang="en-US" sz="88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CREATIVITY &amp; INNOVATION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AI for group decisions, not only itinerary text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Tripolr combines structured inputs, practical constraints and human-controlled collaboration.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INPUT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758952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Social links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Saved places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Manual entry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251460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A7FF"/>
                </a:solidFill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98648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STRUCTURE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063240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Extract + normalise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Match locations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Check data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81888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A7FF"/>
                </a:solidFill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202936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77256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23425D"/>
          </a:solidFill>
          <a:ln w="12700">
            <a:solidFill>
              <a:srgbClr val="2342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0408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DECIDE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5367528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Group preferences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Budget + pace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Time constraints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123176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A7FF"/>
                </a:solidFill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07224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1544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54696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PLAN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7671816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AI assistance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Route checks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Editable itinerary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9427464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A7FF"/>
                </a:solidFill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811512" y="187452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85832" y="2075688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58984" y="21396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3B82F6"/>
                </a:solidFill>
              </a:rPr>
              <a:t>ADAPT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9976104" y="257860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Partial replanning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Alternatives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17212B"/>
                </a:solidFill>
              </a:rPr>
              <a:t>User approval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21792" y="370332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76732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CURRENT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883664" y="37124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Social-to-trip extraction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83664" y="40416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Turns supported social content into reusable place data.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370332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 w="12700">
            <a:solidFill>
              <a:srgbClr val="FFF1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376732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CCMF BUILD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7479792" y="37124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Preference reconciliation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79792" y="40416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Makes group trade-offs visible and supports balanced decisions.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" y="466344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 w="12700">
            <a:solidFill>
              <a:srgbClr val="FFF1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47274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CCMF BUILD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1883664" y="4672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Constraint-aware planning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883664" y="50017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Combines selected places with time, location and travel constraints.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466344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 w="12700">
            <a:solidFill>
              <a:srgbClr val="FFF1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47274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CCMF BUILD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7479792" y="4672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Partial replanning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79792" y="50017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Changes affected activities while preserving accepted choices.</a:t>
            </a:r>
            <a:endParaRPr lang="en-US" sz="9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COMPETITIVE 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The category is active, so the wedge must be specific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Wanderlog and Mindtrip already combine AI and collaboration. Tripolr should win on a narrower Hong Kong group-planning workflow.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55848" cy="493776"/>
          </a:xfrm>
          <a:prstGeom prst="rect">
            <a:avLst/>
          </a:prstGeom>
          <a:solidFill>
            <a:srgbClr val="1528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975104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</a:rPr>
              <a:t>Capability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968496" y="1828800"/>
            <a:ext cx="1883664" cy="493776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41648" y="19751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Tripolr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870448" y="1828800"/>
            <a:ext cx="1883664" cy="493776"/>
          </a:xfrm>
          <a:prstGeom prst="rect">
            <a:avLst/>
          </a:prstGeom>
          <a:solidFill>
            <a:srgbClr val="1528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9751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Wanderlog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772400" y="1828800"/>
            <a:ext cx="1883664" cy="493776"/>
          </a:xfrm>
          <a:prstGeom prst="rect">
            <a:avLst/>
          </a:prstGeom>
          <a:solidFill>
            <a:srgbClr val="1528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5552" y="19751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Mindtrip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674352" y="1828800"/>
            <a:ext cx="1920240" cy="493776"/>
          </a:xfrm>
          <a:prstGeom prst="rect">
            <a:avLst/>
          </a:prstGeom>
          <a:solidFill>
            <a:srgbClr val="1528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47504" y="197510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Layla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4360" y="2322576"/>
            <a:ext cx="3355848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48716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AI-assisted itinerary planning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3968496" y="2322576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0448" y="2322576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322576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74352" y="2322576"/>
            <a:ext cx="1920240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47504" y="24871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2889504"/>
            <a:ext cx="335584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05409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Shared / collaborative trip planning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3968496" y="2889504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41648" y="3054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70448" y="2889504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054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0" y="2889504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3054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74352" y="2889504"/>
            <a:ext cx="1920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47504" y="305409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" y="3456432"/>
            <a:ext cx="3355848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621024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Social content to structured places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3968496" y="3456432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3621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●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70448" y="3456432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621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0" y="3456432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45552" y="3621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●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674352" y="3456432"/>
            <a:ext cx="1920240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47504" y="36210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◐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94360" y="4023360"/>
            <a:ext cx="335584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" y="4187952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Structured group preference reconciliation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3968496" y="4023360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41648" y="4187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◐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870448" y="4023360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0" y="4187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◐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772400" y="4023360"/>
            <a:ext cx="1883664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45552" y="4187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◐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674352" y="4023360"/>
            <a:ext cx="1920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47504" y="418795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94360" y="4590288"/>
            <a:ext cx="3355848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475488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7212B"/>
                </a:solidFill>
              </a:rPr>
              <a:t>Hong Kong student-group beachhead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3968496" y="4590288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41648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◐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870448" y="4590288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772400" y="4590288"/>
            <a:ext cx="1883664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45552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9674352" y="4590288"/>
            <a:ext cx="1920240" cy="566928"/>
          </a:xfrm>
          <a:prstGeom prst="rect">
            <a:avLst/>
          </a:prstGeom>
          <a:solidFill>
            <a:srgbClr val="F7FAFE"/>
          </a:solidFill>
          <a:ln w="7620">
            <a:solidFill>
              <a:srgbClr val="D9E2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47504" y="47548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777"/>
                </a:solidFill>
              </a:rPr>
              <a:t>○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85800" y="539496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" y="5458968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2F855A"/>
                </a:solidFill>
              </a:rPr>
              <a:t>● AVAILABLE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1965960" y="5394960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 w="12700">
            <a:solidFill>
              <a:srgbClr val="FFF1D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39112" y="545896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9A5A1A"/>
                </a:solidFill>
              </a:rPr>
              <a:t>◐ BUILD / VALIDATE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3675888" y="539496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545896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5B6777"/>
                </a:solidFill>
              </a:rPr>
              <a:t>○ NOT CORE</a:t>
            </a:r>
            <a:endParaRPr lang="en-US" sz="760" dirty="0"/>
          </a:p>
        </p:txBody>
      </p:sp>
      <p:sp>
        <p:nvSpPr>
          <p:cNvPr id="71" name="Text 69"/>
          <p:cNvSpPr/>
          <p:nvPr/>
        </p:nvSpPr>
        <p:spPr>
          <a:xfrm>
            <a:off x="5074920" y="52669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3B82F6"/>
                </a:solidFill>
              </a:rPr>
              <a:t>Defensible wedge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400800" y="52303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5283B"/>
                </a:solidFill>
              </a:rPr>
              <a:t>Social inspiration → explicit group trade-offs → route-aware editable plan, designed and validated in Hong Kong.</a:t>
            </a:r>
            <a:endParaRPr lang="en-US" sz="105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Planning stays free. Revenue follows validated booking intent.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Tripolr will test one monetisation hypothesis before expanding into additional channels.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11680"/>
            <a:ext cx="310896" cy="310896"/>
          </a:xfrm>
          <a:prstGeom prst="ellipse">
            <a:avLst/>
          </a:prstGeom>
          <a:solidFill>
            <a:srgbClr val="77A7FF"/>
          </a:solidFill>
          <a:ln w="12700">
            <a:solidFill>
              <a:srgbClr val="77A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6197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16736" y="20574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7A7FF"/>
                </a:solidFill>
              </a:rPr>
              <a:t>VALIDATE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9536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Free planning + collaboration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8E6F3"/>
                </a:solidFill>
              </a:rPr>
              <a:t>Measure usage, retention and booking interest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236976" y="27980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7A7FF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93008" y="182880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75888" y="201168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06197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51376" y="20574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</a:rPr>
              <a:t>REFER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94176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Selected high-intent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94176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777"/>
                </a:solidFill>
              </a:rPr>
              <a:t>Affiliate or referral links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071616" y="27980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7A7FF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27648" y="182880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201168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06197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86016" y="20574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</a:rPr>
              <a:t>INTEGRATE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28816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Direct travel partnerships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28816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777"/>
                </a:solidFill>
              </a:rPr>
              <a:t>Deeper booking connections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906256" y="279806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7A7FF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162288" y="182880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45168" y="201168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5168" y="206197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820656" y="20574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</a:rPr>
              <a:t>EXPAND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363456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Separately validated options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63456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777"/>
                </a:solidFill>
              </a:rPr>
              <a:t>Sponsored placements + B2B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85800" y="4663440"/>
            <a:ext cx="10835640" cy="896112"/>
          </a:xfrm>
          <a:prstGeom prst="roundRect">
            <a:avLst>
              <a:gd name="adj" fmla="val 8163"/>
            </a:avLst>
          </a:prstGeom>
          <a:solidFill>
            <a:srgbClr val="F1F6FC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882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kern="0" spc="100" dirty="0">
                <a:solidFill>
                  <a:srgbClr val="3B82F6"/>
                </a:solidFill>
              </a:rPr>
              <a:t>FIRST COMMERCIAL HYPOTHESIS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3246120" y="4828032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283B"/>
                </a:solidFill>
              </a:rPr>
              <a:t>Groups that complete a collaborative itinerary will show stronger intent to book relevant travel services.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64408" y="52120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7"/>
                </a:solidFill>
              </a:rPr>
              <a:t>All sponsored or paid content will be clearly labelled.</a:t>
            </a:r>
            <a:endParaRPr lang="en-US" sz="9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GO TO MARKET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Launch the stable MVP in Month 3, then validate behaviour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A focused, product-led pilot keeps acquisition costs low and learning speed high.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14400" y="2898648"/>
            <a:ext cx="10149840" cy="0"/>
          </a:xfrm>
          <a:prstGeom prst="line">
            <a:avLst/>
          </a:prstGeom>
          <a:noFill/>
          <a:ln w="50800">
            <a:solidFill>
              <a:srgbClr val="BFD3E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216152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86384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Research +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Prioritised UAT backlog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063240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33472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UX + quality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Core journey and bug fixes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910328" y="2642616"/>
            <a:ext cx="512064" cy="512064"/>
          </a:xfrm>
          <a:prstGeom prst="ellipse">
            <a:avLst/>
          </a:prstGeom>
          <a:solidFill>
            <a:srgbClr val="1528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480560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Stable web MVP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Pilot-ready release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757416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27648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Collaboration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Preferences + partial replanning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604504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04504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174736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Focused pilot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01584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50+ users and usage data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0451592" y="2642616"/>
            <a:ext cx="512064" cy="51206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51592" y="28072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021824" y="34015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12B"/>
                </a:solidFill>
              </a:rPr>
              <a:t>Refine + plan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948672" y="3840480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777"/>
                </a:solidFill>
              </a:rPr>
              <a:t>Evaluation and launch plan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85800" y="473659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992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7A7FF"/>
                </a:solidFill>
              </a:rPr>
              <a:t>PILOT CHANNELS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14600" y="495604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Student societies  •  university communities  •  personal and alumni networks  •  travel communities  •  user invitations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31520" y="58064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Milestone: market-testable web MVP within three months of funding commencement.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USE OF FUNDS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HK$100,000 tied to product readiness and validation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No founder salary is included. Each major cost supports a six-month delivery outcome.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810512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8470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42%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49056" y="18288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HK$42,000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UI / UX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2340864"/>
            <a:ext cx="2370909" cy="310896"/>
          </a:xfrm>
          <a:prstGeom prst="roundRect">
            <a:avLst>
              <a:gd name="adj" fmla="val 11765"/>
            </a:avLst>
          </a:prstGeom>
          <a:solidFill>
            <a:srgbClr val="6C9DF2"/>
          </a:solidFill>
          <a:ln w="12700">
            <a:solidFill>
              <a:srgbClr val="6C9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3774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18%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49056" y="23591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HK$18,000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889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Cloud +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2871216"/>
            <a:ext cx="1580606" cy="310896"/>
          </a:xfrm>
          <a:prstGeom prst="roundRect">
            <a:avLst>
              <a:gd name="adj" fmla="val 11765"/>
            </a:avLst>
          </a:prstGeom>
          <a:solidFill>
            <a:srgbClr val="83B2FF"/>
          </a:solidFill>
          <a:ln w="12700">
            <a:solidFill>
              <a:srgbClr val="83B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907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12%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49056" y="28895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HK$12,000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4198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Security + QA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48840" y="3401568"/>
            <a:ext cx="1053737" cy="310896"/>
          </a:xfrm>
          <a:prstGeom prst="roundRect">
            <a:avLst>
              <a:gd name="adj" fmla="val 11765"/>
            </a:avLst>
          </a:prstGeom>
          <a:solidFill>
            <a:srgbClr val="9FC2FF"/>
          </a:solidFill>
          <a:ln w="12700">
            <a:solidFill>
              <a:srgbClr val="9F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3438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49056" y="34198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HK$8,000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9502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Pilot marketing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3931920"/>
            <a:ext cx="1053737" cy="310896"/>
          </a:xfrm>
          <a:prstGeom prst="roundRect">
            <a:avLst>
              <a:gd name="adj" fmla="val 11765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39684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49056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HK$8,000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User testing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8840" y="4462272"/>
            <a:ext cx="790303" cy="310896"/>
          </a:xfrm>
          <a:prstGeom prst="roundRect">
            <a:avLst>
              <a:gd name="adj" fmla="val 11765"/>
            </a:avLst>
          </a:prstGeom>
          <a:solidFill>
            <a:srgbClr val="79B696"/>
          </a:solidFill>
          <a:ln w="12700">
            <a:solidFill>
              <a:srgbClr val="79B6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44988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6%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49056" y="44805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HK$6,000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010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Legal + privacy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48840" y="4992624"/>
            <a:ext cx="790303" cy="310896"/>
          </a:xfrm>
          <a:prstGeom prst="roundRect">
            <a:avLst>
              <a:gd name="adj" fmla="val 11765"/>
            </a:avLst>
          </a:prstGeom>
          <a:solidFill>
            <a:srgbClr val="A1C9B4"/>
          </a:solidFill>
          <a:ln w="12700">
            <a:solidFill>
              <a:srgbClr val="A1C9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50292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7"/>
                </a:solidFill>
              </a:rPr>
              <a:t>6%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49056" y="50109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283B"/>
                </a:solidFill>
              </a:rPr>
              <a:t>HK$6,000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802368" y="1810512"/>
            <a:ext cx="1737360" cy="3703320"/>
          </a:xfrm>
          <a:prstGeom prst="roundRect">
            <a:avLst>
              <a:gd name="adj" fmla="val 4211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0" y="2249424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88%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10040112" y="30175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6F3"/>
                </a:solidFill>
              </a:rPr>
              <a:t>product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8E6F3"/>
                </a:solidFill>
              </a:rPr>
              <a:t>technical readiness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95560" y="3730752"/>
            <a:ext cx="960120" cy="0"/>
          </a:xfrm>
          <a:prstGeom prst="line">
            <a:avLst/>
          </a:prstGeom>
          <a:noFill/>
          <a:ln w="12700">
            <a:solidFill>
              <a:srgbClr val="4866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85832" y="3986784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7A7FF"/>
                </a:solidFill>
              </a:rPr>
              <a:t>Development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7A7FF"/>
                </a:solidFill>
              </a:rPr>
              <a:t>UI / UX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7A7FF"/>
                </a:solidFill>
              </a:rPr>
              <a:t>Cloud + APIs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7A7FF"/>
                </a:solidFill>
              </a:rPr>
              <a:t>Security + QA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3232" y="58064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283B"/>
                </a:solidFill>
              </a:rPr>
              <a:t>Founder contribution: product strategy, requirements, development direction, UAT and delivery control.</a:t>
            </a: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B82F6"/>
                </a:solidFill>
              </a:rPr>
              <a:t>FOUNDER &amp; EXECUTION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</a:rPr>
              <a:t>The founder has already delivered the first deployed prototype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7"/>
                </a:solidFill>
              </a:rPr>
              <a:t>CCMF support adds specialist capacity without transferring product ownership.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01368"/>
            <a:ext cx="3657600" cy="3794760"/>
          </a:xfrm>
          <a:prstGeom prst="roundRect">
            <a:avLst>
              <a:gd name="adj" fmla="val 2000"/>
            </a:avLst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2176272"/>
            <a:ext cx="914400" cy="914400"/>
          </a:xfrm>
          <a:prstGeom prst="rect">
            <a:avLst/>
          </a:prstGeom>
          <a:solidFill>
            <a:srgbClr val="264E6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YCW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Yuen Chi Wang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730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7A7FF"/>
                </a:solidFill>
              </a:rPr>
              <a:t>Founder &amp; Project Lead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2611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6F3"/>
                </a:solidFill>
              </a:rPr>
              <a:t>30 hours / week dedicated to Tripolr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Built and deployed the current web prototype with AI coding-agent support.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1847088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91109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1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5193792" y="1856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Delivery discipline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50608" y="185623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B6777"/>
                </a:solidFill>
              </a:rPr>
              <a:t>2 years in business analysis across banking and insurance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645152" y="2807208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287121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2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5193792" y="2816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Product practice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50608" y="28163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B6777"/>
                </a:solidFill>
              </a:rPr>
              <a:t>Requirements, stakeholders, UAT and process improvement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645152" y="3767328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383133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kern="0" spc="50" dirty="0">
                <a:solidFill>
                  <a:srgbClr val="FFFFFF"/>
                </a:solidFill>
              </a:rPr>
              <a:t>3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193792" y="3776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Technical capability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50608" y="37764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B6777"/>
                </a:solidFill>
              </a:rPr>
              <a:t>Next.js, FastAPI, PostgreSQL, Docker and Cloudflare Tunnel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4617720" y="4663440"/>
            <a:ext cx="6903720" cy="932688"/>
          </a:xfrm>
          <a:prstGeom prst="roundRect">
            <a:avLst>
              <a:gd name="adj" fmla="val 7843"/>
            </a:avLst>
          </a:prstGeom>
          <a:solidFill>
            <a:srgbClr val="F1F6FC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48920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</a:rPr>
              <a:t>DELIVERY MODEL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19088" y="48371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5283B"/>
                </a:solidFill>
              </a:rPr>
              <a:t>Founder-owned: priorities, requirements, product, UAT and acceptance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419088" y="51755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7"/>
                </a:solidFill>
              </a:rPr>
              <a:t>Specialist-supported: UI/UX, security, QA and selected development deliverables</a:t>
            </a:r>
            <a:endParaRPr lang="en-US" sz="9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83B"/>
          </a:solidFill>
          <a:ln w="12700">
            <a:solidFill>
              <a:srgbClr val="1528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66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77A7FF"/>
                </a:solidFill>
              </a:rPr>
              <a:t>TRIPOLR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From a working prototype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to validated group behaviour.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76656" y="2761488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8E6F3"/>
                </a:solidFill>
              </a:rPr>
              <a:t>With CCMF support, Tripolr will release a stable web MVP within three months and complete a focused market-validation pilot within six months.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24445F"/>
          </a:solidFill>
          <a:ln w="12700">
            <a:solidFill>
              <a:srgbClr val="365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1148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77A7FF"/>
                </a:solidFill>
              </a:rPr>
              <a:t>M3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43708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Stable web MVP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2404872" y="39776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24445F"/>
          </a:solidFill>
          <a:ln w="12700">
            <a:solidFill>
              <a:srgbClr val="365F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41148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77A7FF"/>
                </a:solidFill>
              </a:rPr>
              <a:t>M6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96312" y="43708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50+ user pilot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123944" y="39776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5384" y="41148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OUTCOME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15384" y="43708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Evidence for launch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85800" y="53492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Yuen Chi Wang  |  Founder &amp; Project Lead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A7FF"/>
                </a:solidFill>
              </a:rPr>
              <a:t>uat.tripolr.com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91072" y="1078992"/>
            <a:ext cx="5230368" cy="3456432"/>
          </a:xfrm>
          <a:prstGeom prst="roundRect">
            <a:avLst>
              <a:gd name="adj" fmla="val 2116"/>
            </a:avLst>
          </a:prstGeom>
          <a:solidFill>
            <a:srgbClr val="F8FBFF"/>
          </a:solidFill>
          <a:ln w="12700">
            <a:solidFill>
              <a:srgbClr val="7B9B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261872"/>
            <a:ext cx="4864608" cy="3054096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12700">
            <a:solidFill>
              <a:srgbClr val="B9C9D8"/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1261872"/>
            <a:ext cx="4864608" cy="256032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0256" y="1344168"/>
            <a:ext cx="73152" cy="73152"/>
          </a:xfrm>
          <a:prstGeom prst="ellipse">
            <a:avLst/>
          </a:prstGeom>
          <a:solidFill>
            <a:srgbClr val="E56A6A"/>
          </a:solidFill>
          <a:ln w="12700">
            <a:solidFill>
              <a:srgbClr val="E56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1344168"/>
            <a:ext cx="73152" cy="73152"/>
          </a:xfrm>
          <a:prstGeom prst="ellipse">
            <a:avLst/>
          </a:prstGeom>
          <a:solidFill>
            <a:srgbClr val="E8B84E"/>
          </a:solidFill>
          <a:ln w="12700">
            <a:solidFill>
              <a:srgbClr val="E8B8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344168"/>
            <a:ext cx="73152" cy="73152"/>
          </a:xfrm>
          <a:prstGeom prst="ellipse">
            <a:avLst/>
          </a:prstGeom>
          <a:solidFill>
            <a:srgbClr val="61B875"/>
          </a:solidFill>
          <a:ln w="12700">
            <a:solidFill>
              <a:srgbClr val="61B875"/>
            </a:solidFill>
            <a:prstDash val="solid"/>
          </a:ln>
        </p:spPr>
      </p:sp>
      <p:pic>
        <p:nvPicPr>
          <p:cNvPr id="23" name="Image 0" descr="/mnt/data/cap_screen_extract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647277"/>
            <a:ext cx="4617720" cy="225585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40416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283B"/>
                </a:solidFill>
              </a:rPr>
              <a:t>AI-assisted itinerary generation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70">
                <a:solidFill>
                  <a:srgbClr val="7B87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Tripolr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Tripolr CCMF Pitch Deck Revised</dc:title>
  <dc:subject>CCMF Hong Kong Programme Pitch Deck</dc:subject>
  <dc:creator>Hadrian Yuen</dc:creator>
  <cp:lastModifiedBy>Hadrian Yuen</cp:lastModifiedBy>
  <cp:revision>2</cp:revision>
  <dcterms:created xsi:type="dcterms:W3CDTF">2026-07-22T08:30:50Z</dcterms:created>
  <dcterms:modified xsi:type="dcterms:W3CDTF">2026-07-22T08:35:18Z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dd5db4b-78fb-42ac-8616-2bbd1a698c72_Enabled">
    <vt:lpwstr>true</vt:lpwstr>
  </property>
  <property fmtid="{D5CDD505-2E9C-101B-9397-08002B2CF9AE}" pid="3" name="MSIP_Label_0dd5db4b-78fb-42ac-8616-2bbd1a698c72_SetDate">
    <vt:lpwstr>2026-07-22T08:30:50Z</vt:lpwstr>
  </property>
  <property fmtid="{D5CDD505-2E9C-101B-9397-08002B2CF9AE}" pid="4" name="MSIP_Label_0dd5db4b-78fb-42ac-8616-2bbd1a698c72_Method">
    <vt:lpwstr>Standard</vt:lpwstr>
  </property>
  <property fmtid="{D5CDD505-2E9C-101B-9397-08002B2CF9AE}" pid="5" name="MSIP_Label_0dd5db4b-78fb-42ac-8616-2bbd1a698c72_Name">
    <vt:lpwstr>EXTERNAL</vt:lpwstr>
  </property>
  <property fmtid="{D5CDD505-2E9C-101B-9397-08002B2CF9AE}" pid="6" name="MSIP_Label_0dd5db4b-78fb-42ac-8616-2bbd1a698c72_SiteId">
    <vt:lpwstr>5d3e2773-e07f-4432-a630-1a0f68a28a05</vt:lpwstr>
  </property>
  <property fmtid="{D5CDD505-2E9C-101B-9397-08002B2CF9AE}" pid="7" name="MSIP_Label_0dd5db4b-78fb-42ac-8616-2bbd1a698c72_ActionId">
    <vt:lpwstr>1f722150-9a7c-40c5-b708-65de713acfb5</vt:lpwstr>
  </property>
  <property fmtid="{D5CDD505-2E9C-101B-9397-08002B2CF9AE}" pid="8" name="MSIP_Label_0dd5db4b-78fb-42ac-8616-2bbd1a698c72_ContentBits">
    <vt:lpwstr>0</vt:lpwstr>
  </property>
</Properties>
</file>