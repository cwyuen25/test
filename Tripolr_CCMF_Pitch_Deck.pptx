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EF7"/>
    <a:srgbClr val="6666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6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114" y="11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6400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CCMF APPLICATION  ·  PITCH DECK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kern="0" spc="-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4069080" y="1417320"/>
            <a:ext cx="1097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8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8800" dirty="0"/>
          </a:p>
        </p:txBody>
      </p:sp>
      <p:sp>
        <p:nvSpPr>
          <p:cNvPr id="6" name="Text 4"/>
          <p:cNvSpPr/>
          <p:nvPr/>
        </p:nvSpPr>
        <p:spPr>
          <a:xfrm>
            <a:off x="685800" y="27889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together. Book once. Travel better.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85800" y="3611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collaborative AI travel planner — turning ideas into bookable, optimised itineraries for travelers.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85800" y="62636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Hadrian Yuen Chi Wang  ·  Founder  ·  chiwangyuen@gmail.com  ·  +852 9707 1013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· BEACHHEAD MARKET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kern="0" spc="-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narrow. Validate fast.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85800" y="1545336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Segoe UI" pitchFamily="34" charset="0"/>
                <a:cs typeface="Segoe UI" pitchFamily="34" charset="-120"/>
              </a:rPr>
              <a:t>Hong Kong university friend groups planning short-haul trips to Japan, Taiwan, and South Korea.</a:t>
            </a:r>
          </a:p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Segoe UI" pitchFamily="34" charset="0"/>
                <a:cs typeface="Segoe UI" pitchFamily="34" charset="-120"/>
              </a:rPr>
              <a:t>Mobile-first, budget-conscious, influenced by Instagram, coordinating across 5–7 apps. Tripolr consolidates this into one shared workspace.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4838" y="2462338"/>
            <a:ext cx="34625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90598" y="273665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90598" y="3239578"/>
            <a:ext cx="2731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USERS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90598" y="3513898"/>
            <a:ext cx="2731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University friends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90598" y="3971098"/>
            <a:ext cx="273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2–4 outbound trips/year with friends. Balance budgets, schedules, and preferences.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88534" y="2462338"/>
            <a:ext cx="34625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54294" y="273665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54294" y="3239578"/>
            <a:ext cx="2731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54294" y="3513898"/>
            <a:ext cx="2731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Japan · Taiwan · Korea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654294" y="3971098"/>
            <a:ext cx="273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Short-haul Asian travel. Influenced by Instagram travel content. Currently use WhatsApp, Maps, and spreadsheets.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52230" y="2462338"/>
            <a:ext cx="346252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17990" y="2736658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317990" y="3239578"/>
            <a:ext cx="2731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PROOF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17990" y="3513898"/>
            <a:ext cx="2731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testers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317990" y="3971098"/>
            <a:ext cx="2731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Prototype tested by ~10 users. Key feedback: users need a simpler planning journey.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525423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SIGNALS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552855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104.7M</a:t>
            </a: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HK outbound trips in 2024  ·  </a:t>
            </a: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53%</a:t>
            </a: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of HK travelers use AI to plan trips  ·  </a:t>
            </a:r>
            <a:r>
              <a:rPr lang="en-US" sz="15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52%</a:t>
            </a: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prefer small group tours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UNWTO/ITEHK 2025; Visa Consumer Study (2026); Dragon Trail (Aug 2024).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·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trip planning is broken.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68588"/>
            <a:ext cx="5029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6000" dirty="0"/>
          </a:p>
        </p:txBody>
      </p:sp>
      <p:sp>
        <p:nvSpPr>
          <p:cNvPr id="5" name="Text 3"/>
          <p:cNvSpPr/>
          <p:nvPr/>
        </p:nvSpPr>
        <p:spPr>
          <a:xfrm>
            <a:off x="685800" y="423454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i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hours per trip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85800" y="4783188"/>
            <a:ext cx="5120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Travelers spend two full work-days, jumping between 5–7 apps and an average of 277 web pages, just to plan one trip.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0" y="217714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277 </a:t>
            </a:r>
            <a:r>
              <a:rPr lang="en-US" sz="1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pages  </a:t>
            </a: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viewed before booking — up from 38 in 2013.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17920" y="2908668"/>
            <a:ext cx="521208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20" y="295438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43% </a:t>
            </a:r>
            <a:r>
              <a:rPr lang="en-US" sz="1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of friendships  </a:t>
            </a: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tension over money during group planning.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17920" y="3685908"/>
            <a:ext cx="521208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217920" y="373162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12% </a:t>
            </a:r>
            <a:r>
              <a:rPr lang="en-US" sz="1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of groups  </a:t>
            </a: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have someone drop out last-minute over cost.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217920" y="4463148"/>
            <a:ext cx="521208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217920" y="4508868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2.2 </a:t>
            </a:r>
            <a:r>
              <a:rPr lang="en-US" sz="11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people  </a:t>
            </a: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average leisure trip — solo planning is the minority.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Priceline/Harris Poll (Feb 2024); Expedia Path to Purchase (2023); University of Michigan Group Travel Study (2024); Phocuswright (2025).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· MARKET CONTEXT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market is ready — and waiting.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67335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Hong Kong outbound travel has fully recovered, AI adoption has doubled, and group travel is rebounding.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7091" y="2360016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blurRad="152400" dist="25400" dir="5400000" algn="bl" rotWithShape="0">
              <a:srgbClr val="00000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677091" y="2360016"/>
            <a:ext cx="352044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97131" y="272577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104.7M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97131" y="396021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 outbound trips in 2024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97131" y="4353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110% of pre-COVID baseline.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97131" y="47374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UNWTO/ITEHK 2025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62123" y="2360016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blurRad="1935480000" dist="322580000"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362123" y="2360016"/>
            <a:ext cx="352044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682163" y="272577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53%</a:t>
            </a:r>
            <a:endParaRPr lang="en-US" sz="5600" dirty="0"/>
          </a:p>
        </p:txBody>
      </p:sp>
      <p:sp>
        <p:nvSpPr>
          <p:cNvPr id="14" name="Text 12"/>
          <p:cNvSpPr/>
          <p:nvPr/>
        </p:nvSpPr>
        <p:spPr>
          <a:xfrm>
            <a:off x="4682163" y="396021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HK travelers use AI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82163" y="4353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plan their next trip.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82163" y="47374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Visa Consumer Study (Mar 2026)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047155" y="2360016"/>
            <a:ext cx="35204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047155" y="2360016"/>
            <a:ext cx="352044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367195" y="2725776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52%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8367195" y="3960216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now prefer small group tours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67195" y="43534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2× the year prior.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67195" y="473745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Dragon Trail (Aug 2024)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03218" y="547333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TARGET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03218" y="570193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 residents 22–45, mobile-first, plan 2–4 overseas trips/year — Japan, Korea, Taiwan, SEA. Travel in groups of 2–4. Annual travel spend HK$15K–60K.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· 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multi-app — to one shared canvas.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0967" y="1820089"/>
            <a:ext cx="5212080" cy="402336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16727" y="2094409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1100" dirty="0">
              <a:solidFill>
                <a:srgbClr val="666666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1016727" y="236872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DIY workflow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16727" y="2963089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291047" y="2963089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 IG/TikTok/RED posts in scattered folders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16727" y="3383713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291047" y="3383713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Manually search each place on Google Maps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16727" y="3804337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1291047" y="3804337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Dump addresses into a shared Google Sheet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16727" y="4224961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91047" y="4224961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Argue in WhatsApp about the route and dates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16727" y="4645585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1291047" y="4645585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Manually cluster places by geography for each day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16727" y="5066209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✕</a:t>
            </a:r>
            <a:endParaRPr lang="en-US" sz="1300" dirty="0">
              <a:solidFill>
                <a:srgbClr val="666666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1291047" y="5066209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Copy-paste hotel &amp; activity links to compare prices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28807" y="1820089"/>
            <a:ext cx="5212080" cy="40233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94567" y="2094409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Tripolr</a:t>
            </a:r>
            <a:endParaRPr lang="en-US" sz="1100" dirty="0">
              <a:solidFill>
                <a:srgbClr val="4F8EF7"/>
              </a:solidFill>
            </a:endParaRPr>
          </a:p>
        </p:txBody>
      </p:sp>
      <p:sp>
        <p:nvSpPr>
          <p:cNvPr id="21" name="Text 19"/>
          <p:cNvSpPr/>
          <p:nvPr/>
        </p:nvSpPr>
        <p:spPr>
          <a:xfrm>
            <a:off x="6594567" y="236872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collaborative canvas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594567" y="2963089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23" name="Text 21"/>
          <p:cNvSpPr/>
          <p:nvPr/>
        </p:nvSpPr>
        <p:spPr>
          <a:xfrm>
            <a:off x="6868887" y="2963089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shared wishlist — all friends contribute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94567" y="3383713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6868887" y="3383713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auto-extracts place names from social posts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94567" y="3804337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27" name="Text 25"/>
          <p:cNvSpPr/>
          <p:nvPr/>
        </p:nvSpPr>
        <p:spPr>
          <a:xfrm>
            <a:off x="6868887" y="3804337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clusters places by geography → optimised days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94567" y="4224961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29" name="Text 27"/>
          <p:cNvSpPr/>
          <p:nvPr/>
        </p:nvSpPr>
        <p:spPr>
          <a:xfrm>
            <a:off x="6868887" y="4224961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voting &amp; comments — no more group-chat noise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94567" y="4645585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31" name="Text 29"/>
          <p:cNvSpPr/>
          <p:nvPr/>
        </p:nvSpPr>
        <p:spPr>
          <a:xfrm>
            <a:off x="6868887" y="4645585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Refine in chat: 'add nightlife', 'shorter Day 2'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94567" y="5066209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300" dirty="0">
              <a:solidFill>
                <a:srgbClr val="4F8EF7"/>
              </a:solidFill>
            </a:endParaRPr>
          </a:p>
        </p:txBody>
      </p:sp>
      <p:sp>
        <p:nvSpPr>
          <p:cNvPr id="33" name="Text 31"/>
          <p:cNvSpPr/>
          <p:nvPr/>
        </p:nvSpPr>
        <p:spPr>
          <a:xfrm>
            <a:off x="6868887" y="5066209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One-tap hotel &amp; activity booking via partner OTAs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· INNOVATION &amp; TECHNICAL CHALLENGES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novel — and what's hard about building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100029" y="1786928"/>
            <a:ext cx="52120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100029" y="1786928"/>
            <a:ext cx="5212080" cy="54864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65789" y="20155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65789" y="22898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technically novel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65789" y="288420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2989" y="28842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Multi-source social extraction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922989" y="30983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Auto-parse Instagram, TikTok and 小紅書 (RED) posts into structured place data — names, addresses, hours.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65789" y="3615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2989" y="361572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Agentic itinerary generation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22989" y="382988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LangGraph-based AI agent clusters places by geography and optimises day-by-day sequence under real-world constraints.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65789" y="43472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2989" y="434724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multiplayer canvas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22989" y="45614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Figma-style collaborative trip editing — friends contribute concurrently, edits broadcast live across web and mobile.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65789" y="50787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922989" y="50787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Conversational refinement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22989" y="52929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Natural-language edits ('shorter Day 2', 'add nightlife') regenerate the full itinerary in seconds.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74962" y="1791500"/>
            <a:ext cx="521208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74962" y="1791500"/>
            <a:ext cx="5212080" cy="54864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40722" y="20201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TECHNICAL CHALLENGES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40722" y="229442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What's hard to build well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40722" y="28887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497922" y="28887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Place disambiguation across platforms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497922" y="31029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venue tagged differently across IG / TikTok / RED — resolve to one canonical entity. Target ≥90% accuracy.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040722" y="36203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497922" y="36203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Constraint-aware geographic clustering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497922" y="38344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Minimise inter-place travel time across multi-day trips while respecting opening hours, transit links, and group energy.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040722" y="43518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497922" y="43518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consensus &amp; conflict surfacing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97922" y="45659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Voting + comment systems that surface disagreement early without freezing the plan or fragmenting the group.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040722" y="50833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497922" y="50833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Low-latency AI regeneration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1497922" y="52975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Sub-second itinerary rebuild when a group has 50+ places. Streaming UX so users see progress, not spinners.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Stack: LangGraph · GPT-4o-mini via OpenRouter · React/Next.js · React Native · PostgreSQL · WebSocket sync.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· PRODUCT STATUS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prototype — already deployed.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667578" y="2143558"/>
            <a:ext cx="3070820" cy="3030021"/>
          </a:xfrm>
          <a:prstGeom prst="ellipse">
            <a:avLst/>
          </a:prstGeom>
          <a:solidFill>
            <a:srgbClr val="E0E5E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179382" y="2648561"/>
            <a:ext cx="2047214" cy="2020014"/>
          </a:xfrm>
          <a:prstGeom prst="ellipse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27742" y="3189637"/>
            <a:ext cx="950492" cy="937864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740692" y="2251773"/>
            <a:ext cx="2924591" cy="288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179382" y="2720705"/>
            <a:ext cx="2047214" cy="288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27742" y="3528711"/>
            <a:ext cx="950492" cy="252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73134" y="2287845"/>
            <a:ext cx="2193443" cy="216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CORE  ·  YEAR 1 (Start Here)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173134" y="2397196"/>
            <a:ext cx="3290165" cy="396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uat.tripolr.com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173134" y="2753924"/>
            <a:ext cx="3290165" cy="288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web app deployed and functional. All core features operational.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892768" y="3276727"/>
            <a:ext cx="2193443" cy="216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1F293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STACK  ·  DEPLOYMENT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92768" y="3386077"/>
            <a:ext cx="3290165" cy="396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v0.9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5892768" y="3742806"/>
            <a:ext cx="3290165" cy="288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· Next.js · PostgreSQL · Docker · Cloudflare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611825" y="4300444"/>
            <a:ext cx="2193443" cy="216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  ·  UAT COMPLETE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11825" y="4409796"/>
            <a:ext cx="3290165" cy="396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611825" y="4766524"/>
            <a:ext cx="3290165" cy="2885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— live prototype tested by ~10 users</a:t>
            </a:r>
            <a:endParaRPr lang="en-US" sz="105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8DA1E94-BE7F-62E8-DD0F-93D092F9FF47}"/>
              </a:ext>
            </a:extLst>
          </p:cNvPr>
          <p:cNvGrpSpPr/>
          <p:nvPr/>
        </p:nvGrpSpPr>
        <p:grpSpPr>
          <a:xfrm>
            <a:off x="685800" y="5675417"/>
            <a:ext cx="10437395" cy="421369"/>
            <a:chOff x="685800" y="5628361"/>
            <a:chExt cx="10789920" cy="502934"/>
          </a:xfrm>
        </p:grpSpPr>
        <p:sp>
          <p:nvSpPr>
            <p:cNvPr id="20" name="Shape 18"/>
            <p:cNvSpPr/>
            <p:nvPr/>
          </p:nvSpPr>
          <p:spPr>
            <a:xfrm>
              <a:off x="685800" y="5628361"/>
              <a:ext cx="10789920" cy="502920"/>
            </a:xfrm>
            <a:prstGeom prst="rect">
              <a:avLst/>
            </a:prstGeom>
            <a:solidFill>
              <a:srgbClr val="F4F6FB"/>
            </a:solidFill>
            <a:ln w="12700">
              <a:solidFill>
                <a:srgbClr val="E0E5EF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 19"/>
            <p:cNvSpPr/>
            <p:nvPr/>
          </p:nvSpPr>
          <p:spPr>
            <a:xfrm>
              <a:off x="914400" y="5628375"/>
              <a:ext cx="201168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kern="0" spc="200" dirty="0">
                  <a:solidFill>
                    <a:srgbClr val="4F8EF7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GROWTH POTENTIAL</a:t>
              </a:r>
              <a:endParaRPr lang="en-US" sz="1000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2926080" y="5628375"/>
              <a:ext cx="83667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50" b="1" dirty="0">
                  <a:solidFill>
                    <a:srgbClr val="111111"/>
                  </a:solidFill>
                  <a:latin typeface="Segoe UI" pitchFamily="34" charset="0"/>
                  <a:ea typeface="Segoe UI" pitchFamily="34" charset="-122"/>
                  <a:cs typeface="Segoe UI" pitchFamily="34" charset="-120"/>
                </a:rPr>
                <a:t>Next step: CCMF-funded 3-month MVP to refine UX, launch responsive web, and validate with 30 university users.</a:t>
              </a:r>
              <a:endParaRPr lang="en-US" sz="1050" dirty="0"/>
            </a:p>
          </p:txBody>
        </p:sp>
      </p:grpSp>
      <p:sp>
        <p:nvSpPr>
          <p:cNvPr id="23" name="Text 21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Inspected codebase and live prototype deployment (July 2026).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 · COMPETITIVE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Tripolr wins — the white space nobody owns.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39802" y="1917830"/>
            <a:ext cx="64008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040202" y="1917830"/>
            <a:ext cx="0" cy="3017520"/>
          </a:xfrm>
          <a:prstGeom prst="line">
            <a:avLst/>
          </a:prstGeom>
          <a:noFill/>
          <a:ln w="9525">
            <a:solidFill>
              <a:srgbClr val="E0E5E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9802" y="3426590"/>
            <a:ext cx="64008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5929" y="3440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SINGLE-PLAYER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14075" y="3440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7761" y="1605406"/>
            <a:ext cx="2141873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AI-NATIVE GENERATION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977761" y="4960391"/>
            <a:ext cx="2141873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ENTRY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22698" y="4282468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87874" y="424589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Wanderlog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98570" y="4523870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63746" y="448729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TripIt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882218" y="2351256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147394" y="231468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Mindtrip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70154" y="2653008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1635330" y="261643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Layla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138250" y="2864234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2403426" y="282765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Wonderplan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50114" y="2049504"/>
            <a:ext cx="219456" cy="219456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315290" y="201292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097602" y="2097052"/>
            <a:ext cx="365760" cy="365760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62966" y="2052848"/>
            <a:ext cx="568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642578" y="2542665"/>
            <a:ext cx="12276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WHITE SPACE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652082" y="191783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WEDGE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52082" y="2237870"/>
            <a:ext cx="3474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Multiplayer canvas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AI-native generation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Social-media extraction</a:t>
            </a:r>
            <a:endParaRPr lang="en-US" sz="16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APAC localisation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652082" y="374663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Wanderlog has multiplayer but no AI. Mindtrip &amp; Layla are AI-first but US-centric and weak on group editing. Trip.com &amp; Klook AI route only their own inventory. Nobody has all four.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592790"/>
            <a:ext cx="107899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14400" y="559279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NOT COMPETITORS — CHANNEL PARTNERS:  </a:t>
            </a: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Klook · Trip.com · Booking.com · Agoda · GetYourGuide · Viator pay us 4–10% commission to send qualified, high-intent travelers.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Crunchbase / TechCrunch / company sites (Mindtrip, Layla, Wanderlog, TripIt — accessed 2026); SwipeSights competitor analysis (Mar 2026).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 · FEATURE COMPARISON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Feature-by-feature: only Tripolr ships all four.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728540"/>
            <a:ext cx="40233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50392" y="1728540"/>
            <a:ext cx="3694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09160" y="1728540"/>
            <a:ext cx="1127760" cy="457200"/>
          </a:xfrm>
          <a:prstGeom prst="rect">
            <a:avLst/>
          </a:prstGeom>
          <a:solidFill>
            <a:srgbClr val="4F8EF7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70916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Tripolr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36920" y="1728540"/>
            <a:ext cx="11277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83692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Mindtrip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964680" y="1728540"/>
            <a:ext cx="11277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96468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Layla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92440" y="1728540"/>
            <a:ext cx="11277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09244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Wanderlog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220200" y="1728540"/>
            <a:ext cx="11277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22020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ChatGPT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0347960" y="1728540"/>
            <a:ext cx="1127760" cy="45720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347960" y="1728540"/>
            <a:ext cx="112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Trip.com</a:t>
            </a:r>
            <a:r>
              <a:rPr lang="zh-TW" alt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</a:t>
            </a:r>
            <a:r>
              <a:rPr lang="en-US" altLang="zh-TW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GENIE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5800" y="218574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50392" y="2185740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Collaborative group planning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709160" y="2185740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0916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836920" y="218574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83692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964680" y="218574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96468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8092440" y="218574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09244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220200" y="218574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922020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10347960" y="218574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0347960" y="218574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685800" y="2569788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850392" y="2569788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AI-generated itineraries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2569788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70916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836920" y="256978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83692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964680" y="256978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696468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8092440" y="256978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809244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9220200" y="256978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922020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4" name="Shape 42"/>
          <p:cNvSpPr/>
          <p:nvPr/>
        </p:nvSpPr>
        <p:spPr>
          <a:xfrm>
            <a:off x="10347960" y="256978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10347960" y="256978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685800" y="295383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850392" y="2953836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Imports Instagram travel content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709160" y="2953836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 47"/>
          <p:cNvSpPr/>
          <p:nvPr/>
        </p:nvSpPr>
        <p:spPr>
          <a:xfrm>
            <a:off x="470916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5836920" y="295383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83692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6964680" y="295383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696468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54" name="Shape 52"/>
          <p:cNvSpPr/>
          <p:nvPr/>
        </p:nvSpPr>
        <p:spPr>
          <a:xfrm>
            <a:off x="8092440" y="295383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809244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9220200" y="295383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922020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10347960" y="295383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10347960" y="295383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60" name="Shape 58"/>
          <p:cNvSpPr/>
          <p:nvPr/>
        </p:nvSpPr>
        <p:spPr>
          <a:xfrm>
            <a:off x="685800" y="333788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Text 59"/>
          <p:cNvSpPr/>
          <p:nvPr/>
        </p:nvSpPr>
        <p:spPr>
          <a:xfrm>
            <a:off x="850392" y="3337884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voting &amp; group consensus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709160" y="3337884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470916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64" name="Shape 62"/>
          <p:cNvSpPr/>
          <p:nvPr/>
        </p:nvSpPr>
        <p:spPr>
          <a:xfrm>
            <a:off x="5836920" y="3337884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3"/>
          <p:cNvSpPr/>
          <p:nvPr/>
        </p:nvSpPr>
        <p:spPr>
          <a:xfrm>
            <a:off x="583692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66" name="Shape 64"/>
          <p:cNvSpPr/>
          <p:nvPr/>
        </p:nvSpPr>
        <p:spPr>
          <a:xfrm>
            <a:off x="6964680" y="3337884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Text 65"/>
          <p:cNvSpPr/>
          <p:nvPr/>
        </p:nvSpPr>
        <p:spPr>
          <a:xfrm>
            <a:off x="696468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68" name="Shape 66"/>
          <p:cNvSpPr/>
          <p:nvPr/>
        </p:nvSpPr>
        <p:spPr>
          <a:xfrm>
            <a:off x="8092440" y="3337884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7"/>
          <p:cNvSpPr/>
          <p:nvPr/>
        </p:nvSpPr>
        <p:spPr>
          <a:xfrm>
            <a:off x="809244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9220200" y="3337884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Text 69"/>
          <p:cNvSpPr/>
          <p:nvPr/>
        </p:nvSpPr>
        <p:spPr>
          <a:xfrm>
            <a:off x="922020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72" name="Shape 70"/>
          <p:cNvSpPr/>
          <p:nvPr/>
        </p:nvSpPr>
        <p:spPr>
          <a:xfrm>
            <a:off x="10347960" y="3337884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Text 71"/>
          <p:cNvSpPr/>
          <p:nvPr/>
        </p:nvSpPr>
        <p:spPr>
          <a:xfrm>
            <a:off x="10347960" y="3337884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74" name="Shape 72"/>
          <p:cNvSpPr/>
          <p:nvPr/>
        </p:nvSpPr>
        <p:spPr>
          <a:xfrm>
            <a:off x="685800" y="3721932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3"/>
          <p:cNvSpPr/>
          <p:nvPr/>
        </p:nvSpPr>
        <p:spPr>
          <a:xfrm>
            <a:off x="850392" y="3721932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Conversational refinement ('shorter Day 2')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4709160" y="3721932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Text 75"/>
          <p:cNvSpPr/>
          <p:nvPr/>
        </p:nvSpPr>
        <p:spPr>
          <a:xfrm>
            <a:off x="470916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78" name="Shape 76"/>
          <p:cNvSpPr/>
          <p:nvPr/>
        </p:nvSpPr>
        <p:spPr>
          <a:xfrm>
            <a:off x="5836920" y="3721932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Text 77"/>
          <p:cNvSpPr/>
          <p:nvPr/>
        </p:nvSpPr>
        <p:spPr>
          <a:xfrm>
            <a:off x="583692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80" name="Shape 78"/>
          <p:cNvSpPr/>
          <p:nvPr/>
        </p:nvSpPr>
        <p:spPr>
          <a:xfrm>
            <a:off x="6964680" y="3721932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9"/>
          <p:cNvSpPr/>
          <p:nvPr/>
        </p:nvSpPr>
        <p:spPr>
          <a:xfrm>
            <a:off x="696468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82" name="Shape 80"/>
          <p:cNvSpPr/>
          <p:nvPr/>
        </p:nvSpPr>
        <p:spPr>
          <a:xfrm>
            <a:off x="8092440" y="3721932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Text 81"/>
          <p:cNvSpPr/>
          <p:nvPr/>
        </p:nvSpPr>
        <p:spPr>
          <a:xfrm>
            <a:off x="809244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84" name="Shape 82"/>
          <p:cNvSpPr/>
          <p:nvPr/>
        </p:nvSpPr>
        <p:spPr>
          <a:xfrm>
            <a:off x="9220200" y="3721932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5" name="Text 83"/>
          <p:cNvSpPr/>
          <p:nvPr/>
        </p:nvSpPr>
        <p:spPr>
          <a:xfrm>
            <a:off x="922020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86" name="Shape 84"/>
          <p:cNvSpPr/>
          <p:nvPr/>
        </p:nvSpPr>
        <p:spPr>
          <a:xfrm>
            <a:off x="10347960" y="3721932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pPr algn="ctr"/>
            <a:r>
              <a:rPr lang="en-US" sz="18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dirty="0"/>
          </a:p>
        </p:txBody>
      </p:sp>
      <p:sp>
        <p:nvSpPr>
          <p:cNvPr id="87" name="Text 85"/>
          <p:cNvSpPr/>
          <p:nvPr/>
        </p:nvSpPr>
        <p:spPr>
          <a:xfrm>
            <a:off x="10347960" y="3721932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88" name="Shape 86"/>
          <p:cNvSpPr/>
          <p:nvPr/>
        </p:nvSpPr>
        <p:spPr>
          <a:xfrm>
            <a:off x="685800" y="4105980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Text 87"/>
          <p:cNvSpPr/>
          <p:nvPr/>
        </p:nvSpPr>
        <p:spPr>
          <a:xfrm>
            <a:off x="850392" y="4105980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localisation (HK / TW / JP / KR / SEA)</a:t>
            </a:r>
            <a:endParaRPr lang="en-US" sz="1050" dirty="0"/>
          </a:p>
        </p:txBody>
      </p:sp>
      <p:sp>
        <p:nvSpPr>
          <p:cNvPr id="90" name="Shape 88"/>
          <p:cNvSpPr/>
          <p:nvPr/>
        </p:nvSpPr>
        <p:spPr>
          <a:xfrm>
            <a:off x="4709160" y="4105980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470916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92" name="Shape 90"/>
          <p:cNvSpPr/>
          <p:nvPr/>
        </p:nvSpPr>
        <p:spPr>
          <a:xfrm>
            <a:off x="5836920" y="410598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91"/>
          <p:cNvSpPr/>
          <p:nvPr/>
        </p:nvSpPr>
        <p:spPr>
          <a:xfrm>
            <a:off x="583692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6964680" y="410598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5" name="Text 93"/>
          <p:cNvSpPr/>
          <p:nvPr/>
        </p:nvSpPr>
        <p:spPr>
          <a:xfrm>
            <a:off x="696468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96" name="Shape 94"/>
          <p:cNvSpPr/>
          <p:nvPr/>
        </p:nvSpPr>
        <p:spPr>
          <a:xfrm>
            <a:off x="8092440" y="410598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809244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9220200" y="410598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Text 97"/>
          <p:cNvSpPr/>
          <p:nvPr/>
        </p:nvSpPr>
        <p:spPr>
          <a:xfrm>
            <a:off x="922020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10347960" y="4105980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Text 99"/>
          <p:cNvSpPr/>
          <p:nvPr/>
        </p:nvSpPr>
        <p:spPr>
          <a:xfrm>
            <a:off x="10347960" y="4105980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02" name="Shape 100"/>
          <p:cNvSpPr/>
          <p:nvPr/>
        </p:nvSpPr>
        <p:spPr>
          <a:xfrm>
            <a:off x="685800" y="4490028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850392" y="4490028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Multi-OTA booking (not locked to one inventory)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4709160" y="4490028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 103"/>
          <p:cNvSpPr/>
          <p:nvPr/>
        </p:nvSpPr>
        <p:spPr>
          <a:xfrm>
            <a:off x="470916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06" name="Shape 104"/>
          <p:cNvSpPr/>
          <p:nvPr/>
        </p:nvSpPr>
        <p:spPr>
          <a:xfrm>
            <a:off x="5836920" y="449002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Text 105"/>
          <p:cNvSpPr/>
          <p:nvPr/>
        </p:nvSpPr>
        <p:spPr>
          <a:xfrm>
            <a:off x="583692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08" name="Shape 106"/>
          <p:cNvSpPr/>
          <p:nvPr/>
        </p:nvSpPr>
        <p:spPr>
          <a:xfrm>
            <a:off x="6964680" y="449002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Text 107"/>
          <p:cNvSpPr/>
          <p:nvPr/>
        </p:nvSpPr>
        <p:spPr>
          <a:xfrm>
            <a:off x="696468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092440" y="449002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Text 109"/>
          <p:cNvSpPr/>
          <p:nvPr/>
        </p:nvSpPr>
        <p:spPr>
          <a:xfrm>
            <a:off x="809244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9220200" y="449002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Text 111"/>
          <p:cNvSpPr/>
          <p:nvPr/>
        </p:nvSpPr>
        <p:spPr>
          <a:xfrm>
            <a:off x="922020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14" name="Shape 112"/>
          <p:cNvSpPr/>
          <p:nvPr/>
        </p:nvSpPr>
        <p:spPr>
          <a:xfrm>
            <a:off x="10347960" y="4490028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0347960" y="4490028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16" name="Shape 114"/>
          <p:cNvSpPr/>
          <p:nvPr/>
        </p:nvSpPr>
        <p:spPr>
          <a:xfrm>
            <a:off x="685800" y="4874076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Text 115"/>
          <p:cNvSpPr/>
          <p:nvPr/>
        </p:nvSpPr>
        <p:spPr>
          <a:xfrm>
            <a:off x="850392" y="4874076"/>
            <a:ext cx="3694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Hong Kong / Cantonese-first UX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4709160" y="4874076"/>
            <a:ext cx="1127760" cy="384048"/>
          </a:xfrm>
          <a:prstGeom prst="rect">
            <a:avLst/>
          </a:prstGeom>
          <a:solidFill>
            <a:srgbClr val="EAF2FE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Text 117"/>
          <p:cNvSpPr/>
          <p:nvPr/>
        </p:nvSpPr>
        <p:spPr>
          <a:xfrm>
            <a:off x="470916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600" dirty="0"/>
          </a:p>
        </p:txBody>
      </p:sp>
      <p:sp>
        <p:nvSpPr>
          <p:cNvPr id="120" name="Shape 118"/>
          <p:cNvSpPr/>
          <p:nvPr/>
        </p:nvSpPr>
        <p:spPr>
          <a:xfrm>
            <a:off x="5836920" y="487407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 119"/>
          <p:cNvSpPr/>
          <p:nvPr/>
        </p:nvSpPr>
        <p:spPr>
          <a:xfrm>
            <a:off x="583692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22" name="Shape 120"/>
          <p:cNvSpPr/>
          <p:nvPr/>
        </p:nvSpPr>
        <p:spPr>
          <a:xfrm>
            <a:off x="6964680" y="487407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3" name="Text 121"/>
          <p:cNvSpPr/>
          <p:nvPr/>
        </p:nvSpPr>
        <p:spPr>
          <a:xfrm>
            <a:off x="696468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24" name="Shape 122"/>
          <p:cNvSpPr/>
          <p:nvPr/>
        </p:nvSpPr>
        <p:spPr>
          <a:xfrm>
            <a:off x="8092440" y="487407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5" name="Text 123"/>
          <p:cNvSpPr/>
          <p:nvPr/>
        </p:nvSpPr>
        <p:spPr>
          <a:xfrm>
            <a:off x="809244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26" name="Shape 124"/>
          <p:cNvSpPr/>
          <p:nvPr/>
        </p:nvSpPr>
        <p:spPr>
          <a:xfrm>
            <a:off x="9220200" y="487407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 125"/>
          <p:cNvSpPr/>
          <p:nvPr/>
        </p:nvSpPr>
        <p:spPr>
          <a:xfrm>
            <a:off x="922020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endParaRPr lang="en-US" sz="1400" dirty="0"/>
          </a:p>
        </p:txBody>
      </p:sp>
      <p:sp>
        <p:nvSpPr>
          <p:cNvPr id="128" name="Shape 126"/>
          <p:cNvSpPr/>
          <p:nvPr/>
        </p:nvSpPr>
        <p:spPr>
          <a:xfrm>
            <a:off x="10347960" y="4874076"/>
            <a:ext cx="1127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9" name="Text 127"/>
          <p:cNvSpPr/>
          <p:nvPr/>
        </p:nvSpPr>
        <p:spPr>
          <a:xfrm>
            <a:off x="10347960" y="4874076"/>
            <a:ext cx="112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1400" dirty="0"/>
          </a:p>
        </p:txBody>
      </p:sp>
      <p:sp>
        <p:nvSpPr>
          <p:cNvPr id="130" name="Text 128"/>
          <p:cNvSpPr/>
          <p:nvPr/>
        </p:nvSpPr>
        <p:spPr>
          <a:xfrm>
            <a:off x="685800" y="5285556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3CB37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Full support     </a:t>
            </a:r>
            <a:r>
              <a:rPr lang="en-US" sz="11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◐</a:t>
            </a:r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Partial / limited     </a:t>
            </a:r>
            <a:r>
              <a:rPr lang="en-US" sz="11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—</a:t>
            </a:r>
            <a:r>
              <a:rPr lang="en-US" sz="10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Not supported</a:t>
            </a:r>
            <a:endParaRPr lang="en-US" sz="1100" dirty="0"/>
          </a:p>
        </p:txBody>
      </p:sp>
      <p:sp>
        <p:nvSpPr>
          <p:cNvPr id="133" name="Text 131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Company websites and product reviews — Mindtrip, Layla, Wanderlog, ChatGPT (accessed 2026).</a:t>
            </a:r>
            <a:endParaRPr lang="en-US" sz="800" dirty="0"/>
          </a:p>
        </p:txBody>
      </p:sp>
      <p:sp>
        <p:nvSpPr>
          <p:cNvPr id="134" name="Text 132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Asset-light. Commission-based. We earn when our users book.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97414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never compete with OTAs. We send them qualified demand and earn an affiliate fee on every booking.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2497754"/>
            <a:ext cx="5486400" cy="566928"/>
          </a:xfrm>
          <a:prstGeom prst="rect">
            <a:avLst/>
          </a:prstGeom>
          <a:solidFill>
            <a:srgbClr val="E0E5E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9775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INSPIRE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57400" y="249775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saves IG/TikTok posts to shared wishlist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85800" y="3137834"/>
            <a:ext cx="4754880" cy="566928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14400" y="313783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57400" y="313783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generates optimised group itinerary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85800" y="3777914"/>
            <a:ext cx="4023360" cy="56692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914400" y="377791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REFINE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57400" y="377791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votes, AI rebuilds in seconds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" y="4417994"/>
            <a:ext cx="3291840" cy="5669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914400" y="441799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57400" y="4417994"/>
            <a:ext cx="1737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 &amp; activity booking via partner OTAs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5800" y="5058074"/>
            <a:ext cx="2560320" cy="566928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14400" y="5058074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57400" y="505807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5–10% affiliate commission on every booking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32320" y="249775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UNIT ECONOMICS  ·  PER CONVERTED COUPLE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32320" y="286351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 commission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235440" y="286351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HK$363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132320" y="3082970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5% × HK$7,276 avg booking (HK→Japan, couple)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132320" y="3284138"/>
            <a:ext cx="43434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32320" y="330242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Activity commission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35440" y="330242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HK$72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0" y="3521882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8% × HK$900 avg activity spend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32320" y="3723050"/>
            <a:ext cx="43434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32320" y="374133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per couple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235440" y="374133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HK$435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132320" y="3960794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fully-converted booking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4161962"/>
            <a:ext cx="43434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132320" y="418025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+ API cost per plan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9235440" y="418025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HK$0.08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7132320" y="4399706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OpenRouter and Google API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132320" y="4600874"/>
            <a:ext cx="43434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7132320" y="461916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+ DB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235440" y="461916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HK$0.40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7132320" y="4838618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generated itinerary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132320" y="5039786"/>
            <a:ext cx="4343400" cy="0"/>
          </a:xfrm>
          <a:prstGeom prst="line">
            <a:avLst/>
          </a:prstGeom>
          <a:noFill/>
          <a:ln w="9525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32320" y="505807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Gross margin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235440" y="5058074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&gt;99%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32320" y="5277530"/>
            <a:ext cx="4343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 user-acquisition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85800" y="58833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WE SURVIVE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85799" y="6130216"/>
            <a:ext cx="1107506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$0.048 cost per plan + 99% gross margin + organic IG/RED acquisition = profitable on the first booking. 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85800" y="6446520"/>
            <a:ext cx="9418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Sources: Travelpayouts/Booking.com/Agoda/Viator affiliate rate cards (2024–25); JNTO Q1 2024; OpenAI GPT-4o-mini pricing.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 · THREE-MONTH MVP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HK$100K CCMF — deliver a market-testable responsive web MVP in 3 months.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2594610" cy="3246120"/>
          </a:xfrm>
          <a:prstGeom prst="rect">
            <a:avLst/>
          </a:prstGeom>
          <a:solidFill>
            <a:srgbClr val="E0E5E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807208"/>
            <a:ext cx="2045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UX &amp; BUG FIXES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60120" y="306324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i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Refine prototype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60120" y="3611880"/>
            <a:ext cx="2045970" cy="0"/>
          </a:xfrm>
          <a:prstGeom prst="line">
            <a:avLst/>
          </a:prstGeom>
          <a:noFill/>
          <a:ln w="6350">
            <a:solidFill>
              <a:srgbClr val="11111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60120" y="3904488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Redesign user journey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960120" y="4151376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critical UAT issues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60120" y="4398264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Simplify onboarding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60120" y="4718304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60120" y="4919472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dev onboarding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60120" y="5166360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trip creation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7570" y="2240280"/>
            <a:ext cx="2594610" cy="3246120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69189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 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3691890" y="2807208"/>
            <a:ext cx="2045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 &amp; PRIVACY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91890" y="306324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testing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691890" y="3611880"/>
            <a:ext cx="204597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691890" y="3703320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3691890" y="3904488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Structured UAT with students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691890" y="4151376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controls &amp; consent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91890" y="4398264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Responsive web performance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91890" y="4718304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691890" y="4919472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Viewer/editor roles &amp; deletion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91890" y="5166360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Performance testing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149340" y="2240280"/>
            <a:ext cx="2594610" cy="32461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642366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 3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6423660" y="2807208"/>
            <a:ext cx="2045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&amp; OUTREACH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423660" y="306324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 MVP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23660" y="3611880"/>
            <a:ext cx="2045970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6423660" y="3703320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423660" y="3904488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stable responsive web MVP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423660" y="4151376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privacy policy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423660" y="4398264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Campus-community outreach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423660" y="4718304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6423660" y="4919472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Activity booking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23660" y="5166360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 pilot targets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8881110" y="2240280"/>
            <a:ext cx="2594610" cy="3246120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9155430" y="24231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POST-MVP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9155430" y="2807208"/>
            <a:ext cx="2045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SCALE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155430" y="3063240"/>
            <a:ext cx="204597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i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 users · First revenue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9155430" y="3611880"/>
            <a:ext cx="2045970" cy="0"/>
          </a:xfrm>
          <a:prstGeom prst="line">
            <a:avLst/>
          </a:prstGeom>
          <a:noFill/>
          <a:ln w="6350">
            <a:solidFill>
              <a:srgbClr val="111111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9155430" y="3703320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9155430" y="3904488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TW + SG market research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9155430" y="4151376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Flight-booking feasibility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155430" y="4398264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Pre-seed traction data room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9155430" y="4718304"/>
            <a:ext cx="2045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b="1" kern="0" spc="1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GROW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9155430" y="4919472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TW + SG soft-launch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9155430" y="5166360"/>
            <a:ext cx="204597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· Close HK$3M pre-seed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85800" y="565099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CCMF BUDGET ALLOCATION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" y="5925312"/>
            <a:ext cx="3236976" cy="34747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85800" y="5925312"/>
            <a:ext cx="32369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85800" y="6300216"/>
            <a:ext cx="32369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 &amp; QA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3922776" y="5925312"/>
            <a:ext cx="2697480" cy="34747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3922776" y="5925312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3922776" y="6300216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UI/UX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620256" y="5925312"/>
            <a:ext cx="2157984" cy="34747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620256" y="5925312"/>
            <a:ext cx="21579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620256" y="630021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Testing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8778240" y="5925312"/>
            <a:ext cx="1618488" cy="347472"/>
          </a:xfrm>
          <a:prstGeom prst="rect">
            <a:avLst/>
          </a:prstGeom>
          <a:solidFill>
            <a:srgbClr val="E0E5EF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/>
          <p:cNvSpPr/>
          <p:nvPr/>
        </p:nvSpPr>
        <p:spPr>
          <a:xfrm>
            <a:off x="8778240" y="5925312"/>
            <a:ext cx="1618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778240" y="6300216"/>
            <a:ext cx="1618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Cloud/AI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0396728" y="5925312"/>
            <a:ext cx="1078992" cy="347472"/>
          </a:xfrm>
          <a:prstGeom prst="rect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/>
          <p:cNvSpPr/>
          <p:nvPr/>
        </p:nvSpPr>
        <p:spPr>
          <a:xfrm>
            <a:off x="10396728" y="5925312"/>
            <a:ext cx="1078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10396728" y="6300216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8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Marketing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 · TEAM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Solo founder today. Delivery team with CCMF support.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15544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554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[ Photo ]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560320" y="22402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Hadrian Yuen Chi Wang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2560320" y="269748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Founder  ·  Business Analyst &amp; Developer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560320" y="3044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BSc Computing Mathematics, City University of Hong Kong (2020–2024)</a:t>
            </a:r>
            <a:endParaRPr lang="en-US" sz="1050" dirty="0"/>
          </a:p>
          <a:p>
            <a:pPr marL="0" indent="0" algn="l">
              <a:spcAft>
                <a:spcPts val="200"/>
              </a:spcAft>
              <a:buNone/>
            </a:pPr>
            <a:r>
              <a:rPr lang="en-US" sz="105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3+ years across banking, fintech, and AI delivery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560320" y="37490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60320" y="3995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DBS Bank · Manulife · Bank of China (HK) · AutoML Capital · Fusion Bank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35240" y="224028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ONE FOUNDER HAS SHIPPED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35240" y="2560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MVP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412480" y="2560320"/>
            <a:ext cx="3063240" cy="291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across Web (uat.tripolr.com)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635240" y="291164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412480" y="29116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· Next.js · PostgreSQL · Docker · Cloudflare — full-stack solo build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635240" y="33231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core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12480" y="3323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Multi-source social extraction + agentic itinerary generation working end-to-end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35240" y="373460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12480" y="3734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HK$0.48 per generated plan — 99%+ gross margin already proven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6968" y="47548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PRODUCTION AI/LLM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86968" y="5038344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GPT-4, OpenRouter, prompt engineering. Built GPT-3 stock advisory chatbot at AutoML — 90% user satisfaction.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461772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681728" y="47548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FULL-STACK DELIVERY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81728" y="5038344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Python/FastAPI · TypeScript · React · Next.js · PostgreSQL · Docker. Independently built and deployed Tripolr prototype.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75320" y="4617720"/>
            <a:ext cx="3657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476488" y="4754880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REGULATED-INDUSTRY RIGOUR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8476488" y="5038344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HKMA compliance · UAT · SDLC · regulated-industry delivery. Cantonese/Mandarin native — deep HK travel-market understanding.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85800" y="5742432"/>
            <a:ext cx="10789920" cy="502920"/>
          </a:xfrm>
          <a:prstGeom prst="rect">
            <a:avLst/>
          </a:prstGeom>
          <a:solidFill>
            <a:srgbClr val="F4F6FB"/>
          </a:solidFill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914400" y="57424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CCMF-FUNDED DELIVERY TEAM:</a:t>
            </a:r>
            <a:r>
              <a:rPr lang="en-US" sz="10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Contract developer (frontend, backend, QA, privacy)  ·  UI/UX contractor (user-flow redesign, usability testing)  ·  Pilot participants (university friend groups)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94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 · SOCIAL RESPONSIBILITY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85800" y="886968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Responsible, inclusive, and transparent.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034538"/>
            <a:ext cx="33832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21741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221741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Privacy &amp; Trust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260146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planning tools remain free for budget-conscious university travellers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33672" y="2034538"/>
            <a:ext cx="33832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462272" y="221741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919472" y="221741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AI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919472" y="2601466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Authenticated accounts, invite-only access, viewer/editor roles, trip deletion, consent notices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85800" y="3616450"/>
            <a:ext cx="33832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914400" y="37993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379933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 Revenue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418337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suggestions are editable, not authoritative. Users verify critical travel information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33672" y="3616450"/>
            <a:ext cx="33832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5EF"/>
            </a:solidFill>
            <a:prstDash val="solid"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462272" y="379933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19472" y="379933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Protection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919472" y="4183378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Sponsored content clearly labelled. Commercial relationships disclosed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82712" y="2034538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ACCESSIBILITY &amp; INCLUSION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92440" y="2537458"/>
            <a:ext cx="0" cy="2468880"/>
          </a:xfrm>
          <a:prstGeom prst="line">
            <a:avLst/>
          </a:prstGeom>
          <a:noFill/>
          <a:ln w="254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8019288" y="2464306"/>
            <a:ext cx="146304" cy="146304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275320" y="240944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access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75320" y="262889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Incorporate HK Ltd. · Science Park base of operations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19288" y="3122674"/>
            <a:ext cx="146304" cy="146304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275320" y="306781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Inclusive design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75320" y="3287266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Budget, pace, and accessibility preferences in itinerary creation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019288" y="3781042"/>
            <a:ext cx="146304" cy="146304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275320" y="372617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Multilingual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275320" y="394563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English, Traditional Chinese, and Simplified Chinese interface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8019288" y="4439410"/>
            <a:ext cx="146304" cy="146304"/>
          </a:xfrm>
          <a:prstGeom prst="ellipse">
            <a:avLst/>
          </a:prstGeom>
          <a:solidFill>
            <a:srgbClr val="4F8EF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8275320" y="438454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efficiency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275320" y="460400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Distance-aware clustering reduces unnecessary movement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85800" y="5248167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33333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STRATEGIC FIT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85800" y="5495055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Through free access, inclusive design, ethical AI, privacy protection, and transparent recommendations, Tripolr creates positive social value for Hong Kong travellers.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44652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5800" y="1125183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85800" y="1719543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kern="0" spc="-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together. Book once.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85800" y="2633943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 kern="0" spc="-100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Travel better</a:t>
            </a:r>
            <a:r>
              <a:rPr lang="en-US" sz="5200" b="1" kern="0" spc="-100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5200" dirty="0">
              <a:solidFill>
                <a:srgbClr val="4F8EF7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685800" y="35516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Let's make travelers fall in love with planning again.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4937760"/>
            <a:ext cx="10058400" cy="0"/>
          </a:xfrm>
          <a:prstGeom prst="line">
            <a:avLst/>
          </a:prstGeom>
          <a:noFill/>
          <a:ln w="12700">
            <a:solidFill>
              <a:srgbClr val="E0E5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85800" y="5074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Hadrian Yuen Chi Wang  ·  Founder &amp; CEO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Email   </a:t>
            </a: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chiwangyuen@gmail.com</a:t>
            </a: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  Phone   </a:t>
            </a:r>
            <a:r>
              <a:rPr lang="en-US" sz="1200" b="1" dirty="0">
                <a:solidFill>
                  <a:srgbClr val="11111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+852 9707 1013</a:t>
            </a: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 xml:space="preserve">      Web   </a:t>
            </a:r>
            <a:r>
              <a:rPr lang="en-US" sz="1200" b="1" dirty="0">
                <a:solidFill>
                  <a:srgbClr val="4F8E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uat.tripolr.com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9AA3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Beta access on request — Web live now.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2128</Words>
  <Application>Microsoft Office PowerPoint</Application>
  <PresentationFormat>Widescreen</PresentationFormat>
  <Paragraphs>376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Tripolr — HKSTP Ideation Seed Fund Pitch</dc:title>
  <dc:subject>PptxGenJS Presentation</dc:subject>
  <dc:creator>Hadrian Yuen Chi Wang</dc:creator>
  <cp:lastModifiedBy>chiwang yuen</cp:lastModifiedBy>
  <cp:revision>13</cp:revision>
  <cp:lastPrinted>2026-04-26T15:35:28Z</cp:lastPrinted>
  <dcterms:created xsi:type="dcterms:W3CDTF">2026-04-26T14:33:23Z</dcterms:created>
  <dcterms:modified xsi:type="dcterms:W3CDTF">2026-04-26T17:19:47Z</dcterms:modified>
</cp:coreProperties>
</file>