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71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5E2"/>
    <a:srgbClr val="E9E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1BE48-3131-41D9-977A-DDB19CE181F1}" type="datetimeFigureOut"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D277E-1E47-4FC9-8E85-B0C3D8C9AE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5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Problem framing is based on founder observations and initial UAT; further structured validation is planned during CCMF.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Tester count and UAT learning supplied by Tripolr founder.
Target segment and validation sequence are project strategy assumptions to be tested during CCMF.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Hong Kong resident departures: ITE Hong Kong, Hong Kong Outbound Report, 17 July 2025, citing UNWTO Tourism Barometer May 2025. https://www.itehk.com/travelexpo/doc/press/HK_Outbound_Report-Jul25_en.pdf
Travel research time and page views: Expedia Group and Luth Research, Path to Purchase, 25 July 2023. https://www.expedia.com/newsroom/eg-path-to-purchase-research/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Product screenshots supplied by Tripolr founder.
Current feature status supplied by Tripolr founder.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Pilot targets are proposed objectives in the revised CCMF application and are not current traction figures.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Current and planned capabilities supplied by Tripolr founder and clarified in the revised CCMF application.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Wanderlog official website and AI assistant page, accessed 22 July 2026: https://wanderlog.com/ and https://wanderlog.com/trip-plan-assistant/
Mindtrip official website, accessed 22 July 2026: https://mindtrip.ai/home
Layla official website, accessed 22 July 2026: https://layla.ai/
Competitor capabilities can change. The table uses conservative public-feature descriptions and should be rechecked near submission.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71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Wanderlog official website and AI assistant page, accessed 22 July 2026: https://wanderlog.com/ and https://wanderlog.com/trip-plan-assistant/
Mindtrip official website, accessed 22 July 2026: https://mindtrip.ai/home
Layla official website, accessed 22 July 2026: https://layla.ai/
Competitor capabilities can change. The table uses conservative public-feature descriptions and should be rechecked near submission.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Business model and phased monetisation approach are project assumptions to be tested after core product validation.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Roadmap and pilot channels are proposed in the revised CCMF application.
CCMF prefers projects able to launch within three months after grant disbursement: Cyberport Hong Kong Programme webpage, accessed 22 July 2026.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Funding allocation supplied by Tripolr founder and converted from percentages into HKD amounts.
CCMF grant amount of up to HK$100,000: Cyberport Hong Kong Programme webpage, accessed 22 July 2026.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Founder background, technology stack, commitment and prototype status supplied by Tripolr founder.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Product screenshot supplied by Tripolr founder.
Three-month MVP and six-month pilot targets are proposed outcomes in the revised CCMF application.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47104"/>
            <a:ext cx="1120140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8368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b="1" kern="0" spc="110" dirty="0">
                <a:solidFill>
                  <a:srgbClr val="7B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TRIPOLR  |  CCMF HONG KONG PROGRAMME</a:t>
            </a:r>
            <a:endParaRPr lang="en-US" sz="570" dirty="0"/>
          </a:p>
        </p:txBody>
      </p:sp>
      <p:sp>
        <p:nvSpPr>
          <p:cNvPr id="4" name="Text 2"/>
          <p:cNvSpPr/>
          <p:nvPr/>
        </p:nvSpPr>
        <p:spPr>
          <a:xfrm>
            <a:off x="10881360" y="658368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dirty="0">
                <a:solidFill>
                  <a:srgbClr val="7B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74653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i="0" cap="all" dirty="0">
                <a:solidFill>
                  <a:srgbClr val="FFFFFF"/>
                </a:solidFill>
                <a:effectLst/>
                <a:latin typeface="Orbitron"/>
              </a:rPr>
              <a:t>Cyberport Creative Micro Fund</a:t>
            </a:r>
          </a:p>
          <a:p>
            <a:pPr marL="0" indent="0" algn="l">
              <a:buNone/>
            </a:pPr>
            <a:r>
              <a:rPr lang="en-US" sz="1000" b="1" kern="0" spc="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Cyberport Creative Micro Fund ·  PITCH DECK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kern="0" spc="-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Tripolr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069080" y="14173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together. Book once. Travel better.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collaborative AI travel planner — turning ideas into bookable, optimised itineraries for travelers.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Hadrian Yuen Chi Wang  ·  Founder &amp; CEO  ·  chiwangyuen@gmail.com  ·  +852 9707 1013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Group travel planning breaks between inspiration and action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The issue is not a lack of travel content. It is the manual work required to turn scattered inputs into one agreed, workable plan.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2880360" cy="2514600"/>
          </a:xfrm>
          <a:prstGeom prst="roundRect">
            <a:avLst>
              <a:gd name="adj" fmla="val 2909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05381" y="2097444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8533" y="2174064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1  DISCOVER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914400" y="267919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Ideas arrive everywhere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45643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B6777"/>
                </a:solidFill>
              </a:rPr>
              <a:t>Instagram, Threads, maps and booking sites each contribute different information.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3776472" y="3090672"/>
            <a:ext cx="621792" cy="0"/>
          </a:xfrm>
          <a:prstGeom prst="line">
            <a:avLst/>
          </a:prstGeom>
          <a:noFill/>
          <a:ln w="38100">
            <a:solidFill>
              <a:srgbClr val="77A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45152" y="1828800"/>
            <a:ext cx="2880360" cy="2514600"/>
          </a:xfrm>
          <a:prstGeom prst="roundRect">
            <a:avLst>
              <a:gd name="adj" fmla="val 2909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80449" y="2097444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53601" y="2174064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9A5A1A"/>
                </a:solidFill>
              </a:rPr>
              <a:t>2  COORDINATE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4901184" y="267919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The group negotiates manually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01184" y="345643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B6777"/>
                </a:solidFill>
              </a:rPr>
              <a:t>Messages, notes and spreadsheets carry preferences, budgets and approvals.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763256" y="3090672"/>
            <a:ext cx="621792" cy="0"/>
          </a:xfrm>
          <a:prstGeom prst="line">
            <a:avLst/>
          </a:prstGeom>
          <a:noFill/>
          <a:ln w="38100">
            <a:solidFill>
              <a:srgbClr val="77A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31936" y="1828800"/>
            <a:ext cx="2880360" cy="2514600"/>
          </a:xfrm>
          <a:prstGeom prst="roundRect">
            <a:avLst>
              <a:gd name="adj" fmla="val 2909"/>
            </a:avLst>
          </a:prstGeom>
          <a:solidFill>
            <a:srgbClr val="EAF6EF"/>
          </a:solidFill>
          <a:ln w="12700">
            <a:solidFill>
              <a:srgbClr val="EAF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67233" y="2097444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40385" y="2174064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2F855A"/>
                </a:solidFill>
              </a:rPr>
              <a:t>3  BUILD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887968" y="267919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Someone assembles the trip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887968" y="345643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B6777"/>
                </a:solidFill>
              </a:rPr>
              <a:t>Places must be checked, ordered and converted into a realistic itinerary.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96112" y="411480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3B82F6"/>
                </a:solidFill>
              </a:rPr>
              <a:t>SOCIAL  •  MAPS  •  BOOKING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92040" y="411480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9A5A1A"/>
                </a:solidFill>
              </a:rPr>
              <a:t>CHAT  •  NOTES  •  SHEETS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878824" y="411480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2F855A"/>
                </a:solidFill>
              </a:rPr>
              <a:t>VERIFY  •  ROUTE  •  EDIT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67512" y="4943781"/>
            <a:ext cx="10835640" cy="841248"/>
          </a:xfrm>
          <a:prstGeom prst="roundRect">
            <a:avLst>
              <a:gd name="adj" fmla="val 8696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2688" y="5284037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7A7FF"/>
                </a:solidFill>
              </a:rPr>
              <a:t>THE OPPORTUNITY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51760" y="5201741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Connect discovery, group decisions and itinerary building in one shared workflow.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BEACHHEAD 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Start with one reachable group-planning segment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University student groups first; family use cases follow after the core journey is simplified.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9834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2075688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INITIAL BEACHHEAD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212B"/>
                </a:solidFill>
              </a:rPr>
              <a:t>Hong Kong university students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7212B"/>
                </a:solidFill>
              </a:rPr>
              <a:t>planning outbound trips with friends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32688" y="33832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33832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12B"/>
                </a:solidFill>
              </a:rPr>
              <a:t>Social-media-led discovery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" y="37673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37673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12B"/>
                </a:solidFill>
              </a:rPr>
              <a:t>Collaborative decisions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415137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415137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12B"/>
                </a:solidFill>
              </a:rPr>
              <a:t>Budget and schedule constraints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" y="45354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453542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12B"/>
                </a:solidFill>
              </a:rPr>
              <a:t>Reachable through campus communities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97880" y="1783080"/>
            <a:ext cx="2331720" cy="3337560"/>
          </a:xfrm>
          <a:prstGeom prst="roundRect">
            <a:avLst>
              <a:gd name="adj" fmla="val 3137"/>
            </a:avLst>
          </a:prstGeom>
          <a:solidFill>
            <a:srgbClr val="EAF2FF"/>
          </a:solidFill>
          <a:ln w="12700">
            <a:solidFill>
              <a:srgbClr val="BDD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0488" y="2011680"/>
            <a:ext cx="1536192" cy="292608"/>
          </a:xfrm>
          <a:prstGeom prst="roundRect">
            <a:avLst>
              <a:gd name="adj" fmla="val 25000"/>
            </a:avLst>
          </a:prstGeom>
          <a:solidFill>
            <a:srgbClr val="DDEAFF"/>
          </a:solidFill>
          <a:ln w="12700">
            <a:solidFill>
              <a:srgbClr val="DDE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3640" y="2075688"/>
            <a:ext cx="1389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CURRENT EVIDENCE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6172200" y="25968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3B82F6"/>
                </a:solidFill>
              </a:rPr>
              <a:t>~10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6172200" y="3127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12B"/>
                </a:solidFill>
              </a:rPr>
              <a:t>initial testers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91072" y="3538728"/>
            <a:ext cx="1508760" cy="0"/>
          </a:xfrm>
          <a:prstGeom prst="line">
            <a:avLst/>
          </a:prstGeom>
          <a:noFill/>
          <a:ln w="12700">
            <a:solidFill>
              <a:srgbClr val="BDD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99632" y="3767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Learning so far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36208" y="4133088"/>
            <a:ext cx="1664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7212B"/>
                </a:solidFill>
              </a:rPr>
              <a:t>Core functions work. The journey needs to be simpler and more intuitive.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03920" y="1783080"/>
            <a:ext cx="3017520" cy="33375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96528" y="20116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869680" y="2075688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2F855A"/>
                </a:solidFill>
              </a:rPr>
              <a:t>SECOND SEGMENT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8796528" y="25328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Hong Kong families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796528" y="29900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7"/>
                </a:solidFill>
              </a:rPr>
              <a:t>Validate after the core workflow is stable.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23960" y="3675888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52560" y="36301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17212B"/>
                </a:solidFill>
              </a:rPr>
              <a:t>Different ages and interests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823960" y="4069080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052560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17212B"/>
                </a:solidFill>
              </a:rPr>
              <a:t>Accessibility and travel pace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823960" y="4462272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052560" y="44165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17212B"/>
                </a:solidFill>
              </a:rPr>
              <a:t>Higher need for reliable schedules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868680" y="55138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83B"/>
                </a:solidFill>
              </a:rPr>
              <a:t>CCMF validation question: Do groups return to plan and edit a real trip together?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MARKET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Travel demand is large, while planning remains fragmented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Use market evidence to validate the problem, not to overstate Tripolr's obtainable revenue.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063240" cy="2121408"/>
          </a:xfrm>
          <a:prstGeom prst="roundRect">
            <a:avLst>
              <a:gd name="adj" fmla="val 3448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21396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</a:rPr>
              <a:t>104.7M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12B"/>
                </a:solidFill>
              </a:rPr>
              <a:t>HK resident departures in 2024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0976" y="321868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777"/>
                </a:solidFill>
              </a:rPr>
              <a:t>110.6% of the 2019 level. This measures departures, not unique trips.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96512" y="1828800"/>
            <a:ext cx="3063240" cy="2121408"/>
          </a:xfrm>
          <a:prstGeom prst="roundRect">
            <a:avLst>
              <a:gd name="adj" fmla="val 3448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25112" y="21396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A5A1A"/>
                </a:solidFill>
              </a:rPr>
              <a:t>5+ hrs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352544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12B"/>
                </a:solidFill>
              </a:rPr>
              <a:t>average travel research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321868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777"/>
                </a:solidFill>
              </a:rPr>
              <a:t>Across seven surveyed markets during the 45 days before booking.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534656" y="1828800"/>
            <a:ext cx="3063240" cy="2121408"/>
          </a:xfrm>
          <a:prstGeom prst="roundRect">
            <a:avLst>
              <a:gd name="adj" fmla="val 3448"/>
            </a:avLst>
          </a:prstGeom>
          <a:solidFill>
            <a:srgbClr val="EAF6EF"/>
          </a:solidFill>
          <a:ln w="12700">
            <a:solidFill>
              <a:srgbClr val="EAF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63256" y="21396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55A"/>
                </a:solidFill>
              </a:rPr>
              <a:t>141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790688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12B"/>
                </a:solidFill>
              </a:rPr>
              <a:t>pages viewed before booking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27264" y="321868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777"/>
                </a:solidFill>
              </a:rPr>
              <a:t>Average across seven markets. U.S. travellers reached 277 pages.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" y="4632160"/>
            <a:ext cx="10835640" cy="1051560"/>
          </a:xfrm>
          <a:prstGeom prst="roundRect">
            <a:avLst>
              <a:gd name="adj" fmla="val 6957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88819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7A7FF"/>
                </a:solidFill>
              </a:rPr>
              <a:t>WHAT THIS SUPPORTS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4805896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high-frequency outbound market and a research-heavy digital journey create room for a simpler collaborative workflow.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61488" y="52996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8E8"/>
                </a:solidFill>
              </a:rPr>
              <a:t>CCMF focus: prove adoption with Hong Kong student groups before making broader market-share claims.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Show the complete journey at presentation scale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Two full-width prototype views demonstrate the core value without shrinking interface text into small cards.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5321808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C9D8E8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9536" y="468172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316736" y="464515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Capture travel inspiration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9536" y="4937760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5B6777"/>
                </a:solidFill>
              </a:rPr>
              <a:t>Extract a supported social post into structured place information.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6199632" y="1755648"/>
            <a:ext cx="5321808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C9D8E8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400800" y="468172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02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858000" y="464515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Create an editable itinerary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00800" y="4937760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5B6777"/>
                </a:solidFill>
              </a:rPr>
              <a:t>Turn selected places into a practical plan that the group can review and edit.</a:t>
            </a:r>
            <a:endParaRPr lang="en-US" sz="840" dirty="0"/>
          </a:p>
        </p:txBody>
      </p:sp>
      <p:sp>
        <p:nvSpPr>
          <p:cNvPr id="23" name="Shape 19"/>
          <p:cNvSpPr/>
          <p:nvPr/>
        </p:nvSpPr>
        <p:spPr>
          <a:xfrm>
            <a:off x="6007608" y="3127248"/>
            <a:ext cx="16459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713232" y="5623560"/>
            <a:ext cx="2057400" cy="292608"/>
          </a:xfrm>
          <a:prstGeom prst="roundRect">
            <a:avLst>
              <a:gd name="adj" fmla="val 25000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786384" y="5687568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2F855A"/>
                </a:solidFill>
              </a:rPr>
              <a:t>AVAILABLE IN CURRENT PROTOTYPE</a:t>
            </a:r>
            <a:endParaRPr lang="en-US" sz="760" dirty="0"/>
          </a:p>
        </p:txBody>
      </p:sp>
      <p:sp>
        <p:nvSpPr>
          <p:cNvPr id="26" name="Text 22"/>
          <p:cNvSpPr/>
          <p:nvPr/>
        </p:nvSpPr>
        <p:spPr>
          <a:xfrm>
            <a:off x="2971800" y="56509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17212B"/>
                </a:solidFill>
              </a:rPr>
              <a:t>Place saving  •  social extraction  •  AI itinerary generation  •  real-time collection  •  collaborative editing</a:t>
            </a:r>
            <a:endParaRPr lang="en-US" sz="94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7D5EE1A-FCD9-EF00-B18F-AA78BBF8BB2F}"/>
              </a:ext>
            </a:extLst>
          </p:cNvPr>
          <p:cNvGrpSpPr/>
          <p:nvPr/>
        </p:nvGrpSpPr>
        <p:grpSpPr>
          <a:xfrm>
            <a:off x="6364224" y="2003759"/>
            <a:ext cx="4992624" cy="2621882"/>
            <a:chOff x="6364224" y="2003759"/>
            <a:chExt cx="4992624" cy="2621882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69D36FF-6234-3FF3-8BC7-3D7A66FC60FC}"/>
                </a:ext>
              </a:extLst>
            </p:cNvPr>
            <p:cNvSpPr/>
            <p:nvPr/>
          </p:nvSpPr>
          <p:spPr>
            <a:xfrm>
              <a:off x="6364224" y="2003759"/>
              <a:ext cx="4992624" cy="342399"/>
            </a:xfrm>
            <a:prstGeom prst="roundRect">
              <a:avLst/>
            </a:prstGeom>
            <a:solidFill>
              <a:srgbClr val="E9EFF5"/>
            </a:solidFill>
            <a:ln>
              <a:solidFill>
                <a:srgbClr val="C9D5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hape 13"/>
            <p:cNvSpPr/>
            <p:nvPr/>
          </p:nvSpPr>
          <p:spPr>
            <a:xfrm>
              <a:off x="6483096" y="2077616"/>
              <a:ext cx="54864" cy="54864"/>
            </a:xfrm>
            <a:prstGeom prst="ellipse">
              <a:avLst/>
            </a:prstGeom>
            <a:solidFill>
              <a:srgbClr val="E56A6A"/>
            </a:solidFill>
            <a:ln w="12700">
              <a:solidFill>
                <a:srgbClr val="E56A6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6629400" y="2077616"/>
              <a:ext cx="54864" cy="54864"/>
            </a:xfrm>
            <a:prstGeom prst="ellipse">
              <a:avLst/>
            </a:prstGeom>
            <a:solidFill>
              <a:srgbClr val="E8B84E"/>
            </a:solidFill>
            <a:ln w="12700">
              <a:solidFill>
                <a:srgbClr val="E8B84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5"/>
            <p:cNvSpPr/>
            <p:nvPr/>
          </p:nvSpPr>
          <p:spPr>
            <a:xfrm>
              <a:off x="6775704" y="2077616"/>
              <a:ext cx="54864" cy="54864"/>
            </a:xfrm>
            <a:prstGeom prst="ellipse">
              <a:avLst/>
            </a:prstGeom>
            <a:solidFill>
              <a:srgbClr val="61B875"/>
            </a:solidFill>
            <a:ln w="12700">
              <a:solidFill>
                <a:srgbClr val="61B8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Image 1" descr="/mnt/data/cap_screen_extract/word/media/image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4224" y="2186639"/>
              <a:ext cx="4992624" cy="243900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9AB62F4-EA4C-05BE-A6E4-32DAC754873B}"/>
              </a:ext>
            </a:extLst>
          </p:cNvPr>
          <p:cNvGrpSpPr/>
          <p:nvPr/>
        </p:nvGrpSpPr>
        <p:grpSpPr>
          <a:xfrm>
            <a:off x="822960" y="2003108"/>
            <a:ext cx="4992624" cy="2623185"/>
            <a:chOff x="822960" y="2003108"/>
            <a:chExt cx="4992624" cy="2623185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E2114F6-3FB2-7B3B-D90F-26ADE21CB9D6}"/>
                </a:ext>
              </a:extLst>
            </p:cNvPr>
            <p:cNvSpPr/>
            <p:nvPr/>
          </p:nvSpPr>
          <p:spPr>
            <a:xfrm>
              <a:off x="822960" y="2003108"/>
              <a:ext cx="4992624" cy="342399"/>
            </a:xfrm>
            <a:prstGeom prst="roundRect">
              <a:avLst/>
            </a:prstGeom>
            <a:solidFill>
              <a:srgbClr val="E9EFF5"/>
            </a:solidFill>
            <a:ln>
              <a:solidFill>
                <a:srgbClr val="C9D5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941832" y="2077616"/>
              <a:ext cx="54864" cy="54864"/>
            </a:xfrm>
            <a:prstGeom prst="ellipse">
              <a:avLst/>
            </a:prstGeom>
            <a:solidFill>
              <a:srgbClr val="E56A6A"/>
            </a:solidFill>
            <a:ln w="12700">
              <a:solidFill>
                <a:srgbClr val="E56A6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088136" y="2077616"/>
              <a:ext cx="54864" cy="54864"/>
            </a:xfrm>
            <a:prstGeom prst="ellipse">
              <a:avLst/>
            </a:prstGeom>
            <a:solidFill>
              <a:srgbClr val="E8B84E"/>
            </a:solidFill>
            <a:ln w="12700">
              <a:solidFill>
                <a:srgbClr val="E8B84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1234440" y="2077616"/>
              <a:ext cx="54864" cy="54864"/>
            </a:xfrm>
            <a:prstGeom prst="ellipse">
              <a:avLst/>
            </a:prstGeom>
            <a:solidFill>
              <a:srgbClr val="61B875"/>
            </a:solidFill>
            <a:ln w="12700">
              <a:solidFill>
                <a:srgbClr val="61B8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0" name="Image 0" descr="/mnt/data/cap_screen_extract/word/media/image4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960" y="2185988"/>
              <a:ext cx="4992624" cy="24403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Turn UAT feedback into measurable pilot evidence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Current traction is early. The CCMF pilot will establish behavioural baselines rather than rely on registrations alone.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92224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096" y="199339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50+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72768" y="2084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212B"/>
                </a:solidFill>
              </a:rPr>
              <a:t>pilot users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93008" y="1792224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02736" y="199339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20+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07408" y="2084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212B"/>
                </a:solidFill>
              </a:rPr>
              <a:t>actively planned trips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27648" y="1792224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37376" y="199339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10+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42048" y="2084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212B"/>
                </a:solidFill>
              </a:rPr>
              <a:t>multi-user trips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62288" y="1792224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72016" y="199339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76688" y="2084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8E6F3"/>
                </a:solidFill>
              </a:rPr>
              <a:t>stable web MVP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33101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3B82F6"/>
                </a:solidFill>
              </a:rPr>
              <a:t>MEASURE THE FUNNEL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3749040"/>
            <a:ext cx="1938528" cy="713232"/>
          </a:xfrm>
          <a:prstGeom prst="chevron">
            <a:avLst/>
          </a:prstGeom>
          <a:solidFill>
            <a:srgbClr val="DCEA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3250" y="377165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61184" y="39429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12B"/>
                </a:solidFill>
              </a:rPr>
              <a:t>Create a trip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0" y="3749040"/>
            <a:ext cx="1938528" cy="713232"/>
          </a:xfrm>
          <a:prstGeom prst="chevron">
            <a:avLst/>
          </a:prstGeom>
          <a:solidFill>
            <a:srgbClr val="DCEA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13530" y="377165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01464" y="39429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12B"/>
                </a:solidFill>
              </a:rPr>
              <a:t>Save places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66360" y="3749040"/>
            <a:ext cx="1938528" cy="713232"/>
          </a:xfrm>
          <a:prstGeom prst="chevron">
            <a:avLst/>
          </a:prstGeom>
          <a:solidFill>
            <a:srgbClr val="BDD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53810" y="377165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19952" y="39429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12B"/>
                </a:solidFill>
              </a:rPr>
              <a:t>Invite a collaborator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06640" y="3749040"/>
            <a:ext cx="1938528" cy="713232"/>
          </a:xfrm>
          <a:prstGeom prst="chevron">
            <a:avLst/>
          </a:prstGeom>
          <a:solidFill>
            <a:srgbClr val="BDD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94090" y="377165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72264" y="39429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12B"/>
                </a:solidFill>
              </a:rPr>
              <a:t>Generate an itinerary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46920" y="3749040"/>
            <a:ext cx="1938528" cy="713232"/>
          </a:xfrm>
          <a:prstGeom prst="chevron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834370" y="377165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22304" y="39429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Return to edit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5800" y="475488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1F6FC"/>
          </a:solidFill>
          <a:ln w="12700">
            <a:solidFill>
              <a:srgbClr val="D5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32688" y="496519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83B"/>
                </a:solidFill>
              </a:rPr>
              <a:t>Success means evidence of collaborative behaviour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31920" y="4919472"/>
            <a:ext cx="7205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B6777"/>
                </a:solidFill>
              </a:rPr>
              <a:t>Core-flow completion  •  collaborator invitations  •  return editing  •  time to first itinerary  •  user satisfaction  •  booking interest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713232" y="58704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5B6777"/>
                </a:solidFill>
              </a:rPr>
              <a:t>Pilot targets are objectives, not current traction.</a:t>
            </a:r>
            <a:endParaRPr lang="en-US" sz="88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CREATIVITY &amp; INNOVATION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AI for group decisions, not only itinerary text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Tripolr combines structured inputs, practical constraints and human-controlled collaboration.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075688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139696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INPUT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758952" y="257860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Social links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Saved places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Manual entry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2514600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7A7FF"/>
                </a:solidFill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98648" y="187452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2075688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2139696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STRUCTURE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3063240" y="257860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Extract + normalise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Match locations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Check data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481888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7A7FF"/>
                </a:solidFill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202936" y="187452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77256" y="2075688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23425D"/>
          </a:solidFill>
          <a:ln w="12700">
            <a:solidFill>
              <a:srgbClr val="2342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50408" y="2139696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FFFFFF"/>
                </a:solidFill>
              </a:rPr>
              <a:t>DECIDE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5367528" y="257860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Group preferences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Budget + pace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Time constraints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7123176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7A7FF"/>
                </a:solidFill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07224" y="187452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81544" y="2075688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54696" y="2139696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PLAN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7671816" y="257860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AI assistance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Route checks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Editable itinerary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9427464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7A7FF"/>
                </a:solidFill>
              </a:rPr>
              <a:t>→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811512" y="187452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85832" y="2075688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158984" y="2139696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ADAPT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9976104" y="257860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Partial replanning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Alternatives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User approval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21792" y="4034197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4944" y="4098205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2F855A"/>
                </a:solidFill>
              </a:rPr>
              <a:t>CURRENT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883664" y="4043341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</a:rPr>
              <a:t>Social-to-trip extraction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83664" y="4372525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7"/>
                </a:solidFill>
              </a:rPr>
              <a:t>Turns supported social content into reusable place data.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4034197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FFF1DC"/>
          </a:solidFill>
          <a:ln w="12700">
            <a:solidFill>
              <a:srgbClr val="FFF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91072" y="4098205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9A5A1A"/>
                </a:solidFill>
              </a:rPr>
              <a:t>CCMF BUILD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7479792" y="4043341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</a:rPr>
              <a:t>Preference reconciliation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79792" y="4372525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7"/>
                </a:solidFill>
              </a:rPr>
              <a:t>Makes group trade-offs visible and supports balanced decisions.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" y="4994317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FFF1DC"/>
          </a:solidFill>
          <a:ln w="12700">
            <a:solidFill>
              <a:srgbClr val="FFF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4944" y="5058325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9A5A1A"/>
                </a:solidFill>
              </a:rPr>
              <a:t>CCMF BUILD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1883664" y="5003461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</a:rPr>
              <a:t>Constraint-aware planning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883664" y="5332645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7"/>
                </a:solidFill>
              </a:rPr>
              <a:t>Combines selected places with time, location and travel constraints.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4994317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FFF1DC"/>
          </a:solidFill>
          <a:ln w="12700">
            <a:solidFill>
              <a:srgbClr val="FFF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91072" y="5058325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9A5A1A"/>
                </a:solidFill>
              </a:rPr>
              <a:t>CCMF BUILD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7479792" y="5003461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</a:rPr>
              <a:t>Partial replanning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79792" y="5332645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7"/>
                </a:solidFill>
              </a:rPr>
              <a:t>Changes affected activities while preserving accepted choices.</a:t>
            </a:r>
            <a:endParaRPr lang="en-US" sz="9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COMPETITIVE 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</a:t>
            </a:r>
            <a:r>
              <a:rPr lang="en-US" sz="2800" b="1" dirty="0" err="1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Tripolr</a:t>
            </a:r>
            <a:r>
              <a:rPr lang="en-US" sz="28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wins — the white space nobody owns.</a:t>
            </a:r>
            <a:endParaRPr lang="en-US" sz="2800" dirty="0"/>
          </a:p>
        </p:txBody>
      </p:sp>
      <p:sp>
        <p:nvSpPr>
          <p:cNvPr id="7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74" name="Shape 2">
            <a:extLst>
              <a:ext uri="{FF2B5EF4-FFF2-40B4-BE49-F238E27FC236}">
                <a16:creationId xmlns:a16="http://schemas.microsoft.com/office/drawing/2014/main" id="{CD01D723-DD39-C383-8D88-5AE7E2F84CA0}"/>
              </a:ext>
            </a:extLst>
          </p:cNvPr>
          <p:cNvSpPr/>
          <p:nvPr/>
        </p:nvSpPr>
        <p:spPr>
          <a:xfrm>
            <a:off x="839802" y="1917830"/>
            <a:ext cx="6400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3">
            <a:extLst>
              <a:ext uri="{FF2B5EF4-FFF2-40B4-BE49-F238E27FC236}">
                <a16:creationId xmlns:a16="http://schemas.microsoft.com/office/drawing/2014/main" id="{4C5E798D-57AC-4EEB-2112-A72ABCBC3E87}"/>
              </a:ext>
            </a:extLst>
          </p:cNvPr>
          <p:cNvSpPr/>
          <p:nvPr/>
        </p:nvSpPr>
        <p:spPr>
          <a:xfrm>
            <a:off x="4040202" y="1917830"/>
            <a:ext cx="0" cy="3017520"/>
          </a:xfrm>
          <a:prstGeom prst="line">
            <a:avLst/>
          </a:prstGeom>
          <a:noFill/>
          <a:ln w="9525">
            <a:solidFill>
              <a:srgbClr val="E0E5E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4">
            <a:extLst>
              <a:ext uri="{FF2B5EF4-FFF2-40B4-BE49-F238E27FC236}">
                <a16:creationId xmlns:a16="http://schemas.microsoft.com/office/drawing/2014/main" id="{780AD7ED-ECDA-DDDC-22F8-2EFF0EEF2B79}"/>
              </a:ext>
            </a:extLst>
          </p:cNvPr>
          <p:cNvSpPr/>
          <p:nvPr/>
        </p:nvSpPr>
        <p:spPr>
          <a:xfrm>
            <a:off x="839802" y="3426590"/>
            <a:ext cx="6400800" cy="0"/>
          </a:xfrm>
          <a:prstGeom prst="line">
            <a:avLst/>
          </a:prstGeom>
          <a:noFill/>
          <a:ln w="9525">
            <a:solidFill>
              <a:srgbClr val="E0E5E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5C89C8CE-E381-66D4-AA03-4FF7BFF0464F}"/>
              </a:ext>
            </a:extLst>
          </p:cNvPr>
          <p:cNvSpPr/>
          <p:nvPr/>
        </p:nvSpPr>
        <p:spPr>
          <a:xfrm>
            <a:off x="865929" y="3440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SINGLE-PLAYER</a:t>
            </a:r>
            <a:endParaRPr lang="en-US" sz="1000" dirty="0"/>
          </a:p>
        </p:txBody>
      </p:sp>
      <p:sp>
        <p:nvSpPr>
          <p:cNvPr id="78" name="Text 6">
            <a:extLst>
              <a:ext uri="{FF2B5EF4-FFF2-40B4-BE49-F238E27FC236}">
                <a16:creationId xmlns:a16="http://schemas.microsoft.com/office/drawing/2014/main" id="{A173C89F-D4E7-2F57-C6D5-92237F2DAD80}"/>
              </a:ext>
            </a:extLst>
          </p:cNvPr>
          <p:cNvSpPr/>
          <p:nvPr/>
        </p:nvSpPr>
        <p:spPr>
          <a:xfrm>
            <a:off x="4014075" y="3440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MULTIPLAYER</a:t>
            </a:r>
            <a:endParaRPr lang="en-US" sz="1000" dirty="0"/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353E6B37-319D-EBFA-B6DE-24F136850284}"/>
              </a:ext>
            </a:extLst>
          </p:cNvPr>
          <p:cNvSpPr/>
          <p:nvPr/>
        </p:nvSpPr>
        <p:spPr>
          <a:xfrm>
            <a:off x="2977761" y="1605406"/>
            <a:ext cx="2141873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AI-NATIVE GENERATION</a:t>
            </a:r>
            <a:endParaRPr lang="en-US" sz="1000" dirty="0"/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40972B98-7B1A-6E96-DE6E-E1D90F4E31EF}"/>
              </a:ext>
            </a:extLst>
          </p:cNvPr>
          <p:cNvSpPr/>
          <p:nvPr/>
        </p:nvSpPr>
        <p:spPr>
          <a:xfrm>
            <a:off x="2977761" y="4960391"/>
            <a:ext cx="2141873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ENTRY</a:t>
            </a:r>
            <a:endParaRPr lang="en-US" sz="1000" dirty="0"/>
          </a:p>
        </p:txBody>
      </p:sp>
      <p:sp>
        <p:nvSpPr>
          <p:cNvPr id="81" name="Shape 9">
            <a:extLst>
              <a:ext uri="{FF2B5EF4-FFF2-40B4-BE49-F238E27FC236}">
                <a16:creationId xmlns:a16="http://schemas.microsoft.com/office/drawing/2014/main" id="{5B9E5E3F-E6C1-E0A5-41ED-AFD5C75CA856}"/>
              </a:ext>
            </a:extLst>
          </p:cNvPr>
          <p:cNvSpPr/>
          <p:nvPr/>
        </p:nvSpPr>
        <p:spPr>
          <a:xfrm>
            <a:off x="5722698" y="4282468"/>
            <a:ext cx="219456" cy="219456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10">
            <a:extLst>
              <a:ext uri="{FF2B5EF4-FFF2-40B4-BE49-F238E27FC236}">
                <a16:creationId xmlns:a16="http://schemas.microsoft.com/office/drawing/2014/main" id="{C549EB16-10F8-7BFD-AB2A-F50871368C4A}"/>
              </a:ext>
            </a:extLst>
          </p:cNvPr>
          <p:cNvSpPr/>
          <p:nvPr/>
        </p:nvSpPr>
        <p:spPr>
          <a:xfrm>
            <a:off x="5987874" y="42458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Wanderlog</a:t>
            </a:r>
            <a:endParaRPr lang="en-US" sz="1000" dirty="0"/>
          </a:p>
        </p:txBody>
      </p:sp>
      <p:sp>
        <p:nvSpPr>
          <p:cNvPr id="83" name="Shape 11">
            <a:extLst>
              <a:ext uri="{FF2B5EF4-FFF2-40B4-BE49-F238E27FC236}">
                <a16:creationId xmlns:a16="http://schemas.microsoft.com/office/drawing/2014/main" id="{1B4545CA-4DA9-7599-121F-46A988946ABE}"/>
              </a:ext>
            </a:extLst>
          </p:cNvPr>
          <p:cNvSpPr/>
          <p:nvPr/>
        </p:nvSpPr>
        <p:spPr>
          <a:xfrm>
            <a:off x="4698570" y="4523870"/>
            <a:ext cx="219456" cy="219456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12">
            <a:extLst>
              <a:ext uri="{FF2B5EF4-FFF2-40B4-BE49-F238E27FC236}">
                <a16:creationId xmlns:a16="http://schemas.microsoft.com/office/drawing/2014/main" id="{D13BD4CE-93CD-8F3D-CED9-DF1710263783}"/>
              </a:ext>
            </a:extLst>
          </p:cNvPr>
          <p:cNvSpPr/>
          <p:nvPr/>
        </p:nvSpPr>
        <p:spPr>
          <a:xfrm>
            <a:off x="4963746" y="448729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TripIt</a:t>
            </a:r>
            <a:endParaRPr lang="en-US" sz="1000" dirty="0"/>
          </a:p>
        </p:txBody>
      </p:sp>
      <p:sp>
        <p:nvSpPr>
          <p:cNvPr id="85" name="Shape 13">
            <a:extLst>
              <a:ext uri="{FF2B5EF4-FFF2-40B4-BE49-F238E27FC236}">
                <a16:creationId xmlns:a16="http://schemas.microsoft.com/office/drawing/2014/main" id="{BBB8A1CF-02A9-F369-EBEF-DE9B4439D071}"/>
              </a:ext>
            </a:extLst>
          </p:cNvPr>
          <p:cNvSpPr/>
          <p:nvPr/>
        </p:nvSpPr>
        <p:spPr>
          <a:xfrm>
            <a:off x="1882218" y="2351256"/>
            <a:ext cx="219456" cy="219456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14">
            <a:extLst>
              <a:ext uri="{FF2B5EF4-FFF2-40B4-BE49-F238E27FC236}">
                <a16:creationId xmlns:a16="http://schemas.microsoft.com/office/drawing/2014/main" id="{73B3D53A-A281-40D0-4545-1280310B2B51}"/>
              </a:ext>
            </a:extLst>
          </p:cNvPr>
          <p:cNvSpPr/>
          <p:nvPr/>
        </p:nvSpPr>
        <p:spPr>
          <a:xfrm>
            <a:off x="2147394" y="231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Mindtrip</a:t>
            </a:r>
            <a:endParaRPr lang="en-US" sz="1000" dirty="0"/>
          </a:p>
        </p:txBody>
      </p:sp>
      <p:sp>
        <p:nvSpPr>
          <p:cNvPr id="87" name="Shape 15">
            <a:extLst>
              <a:ext uri="{FF2B5EF4-FFF2-40B4-BE49-F238E27FC236}">
                <a16:creationId xmlns:a16="http://schemas.microsoft.com/office/drawing/2014/main" id="{8D943F00-6697-3692-DD23-1BB4062E8EFF}"/>
              </a:ext>
            </a:extLst>
          </p:cNvPr>
          <p:cNvSpPr/>
          <p:nvPr/>
        </p:nvSpPr>
        <p:spPr>
          <a:xfrm>
            <a:off x="1370154" y="2653008"/>
            <a:ext cx="219456" cy="219456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16">
            <a:extLst>
              <a:ext uri="{FF2B5EF4-FFF2-40B4-BE49-F238E27FC236}">
                <a16:creationId xmlns:a16="http://schemas.microsoft.com/office/drawing/2014/main" id="{3122D0AB-78C2-3A4C-768D-DBC3C43B4EA0}"/>
              </a:ext>
            </a:extLst>
          </p:cNvPr>
          <p:cNvSpPr/>
          <p:nvPr/>
        </p:nvSpPr>
        <p:spPr>
          <a:xfrm>
            <a:off x="1635330" y="261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Layla</a:t>
            </a:r>
            <a:endParaRPr lang="en-US" sz="1000" dirty="0"/>
          </a:p>
        </p:txBody>
      </p:sp>
      <p:sp>
        <p:nvSpPr>
          <p:cNvPr id="89" name="Shape 17">
            <a:extLst>
              <a:ext uri="{FF2B5EF4-FFF2-40B4-BE49-F238E27FC236}">
                <a16:creationId xmlns:a16="http://schemas.microsoft.com/office/drawing/2014/main" id="{B92B6405-9B31-AE3C-FF05-77E7BBB17D32}"/>
              </a:ext>
            </a:extLst>
          </p:cNvPr>
          <p:cNvSpPr/>
          <p:nvPr/>
        </p:nvSpPr>
        <p:spPr>
          <a:xfrm>
            <a:off x="2138250" y="2864234"/>
            <a:ext cx="219456" cy="219456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18">
            <a:extLst>
              <a:ext uri="{FF2B5EF4-FFF2-40B4-BE49-F238E27FC236}">
                <a16:creationId xmlns:a16="http://schemas.microsoft.com/office/drawing/2014/main" id="{0E5F6BCE-F5E6-7BE0-441F-307153264FFB}"/>
              </a:ext>
            </a:extLst>
          </p:cNvPr>
          <p:cNvSpPr/>
          <p:nvPr/>
        </p:nvSpPr>
        <p:spPr>
          <a:xfrm>
            <a:off x="2403426" y="282765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Wonderplan</a:t>
            </a:r>
            <a:endParaRPr lang="en-US" sz="1000" dirty="0"/>
          </a:p>
        </p:txBody>
      </p:sp>
      <p:sp>
        <p:nvSpPr>
          <p:cNvPr id="91" name="Shape 19">
            <a:extLst>
              <a:ext uri="{FF2B5EF4-FFF2-40B4-BE49-F238E27FC236}">
                <a16:creationId xmlns:a16="http://schemas.microsoft.com/office/drawing/2014/main" id="{F0F1FA50-6AD8-F521-F541-43E6B0018A53}"/>
              </a:ext>
            </a:extLst>
          </p:cNvPr>
          <p:cNvSpPr/>
          <p:nvPr/>
        </p:nvSpPr>
        <p:spPr>
          <a:xfrm>
            <a:off x="1050114" y="2049504"/>
            <a:ext cx="219456" cy="219456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20">
            <a:extLst>
              <a:ext uri="{FF2B5EF4-FFF2-40B4-BE49-F238E27FC236}">
                <a16:creationId xmlns:a16="http://schemas.microsoft.com/office/drawing/2014/main" id="{17DD3665-F3B3-6870-35ED-377BC94609EB}"/>
              </a:ext>
            </a:extLst>
          </p:cNvPr>
          <p:cNvSpPr/>
          <p:nvPr/>
        </p:nvSpPr>
        <p:spPr>
          <a:xfrm>
            <a:off x="1315290" y="2012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ChatGPT</a:t>
            </a:r>
            <a:endParaRPr lang="en-US" sz="1000" dirty="0"/>
          </a:p>
        </p:txBody>
      </p:sp>
      <p:sp>
        <p:nvSpPr>
          <p:cNvPr id="93" name="Shape 21">
            <a:extLst>
              <a:ext uri="{FF2B5EF4-FFF2-40B4-BE49-F238E27FC236}">
                <a16:creationId xmlns:a16="http://schemas.microsoft.com/office/drawing/2014/main" id="{A38C8D64-4211-0EFB-160F-FF952B95BD1D}"/>
              </a:ext>
            </a:extLst>
          </p:cNvPr>
          <p:cNvSpPr/>
          <p:nvPr/>
        </p:nvSpPr>
        <p:spPr>
          <a:xfrm>
            <a:off x="6097602" y="2097052"/>
            <a:ext cx="365760" cy="36576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22">
            <a:extLst>
              <a:ext uri="{FF2B5EF4-FFF2-40B4-BE49-F238E27FC236}">
                <a16:creationId xmlns:a16="http://schemas.microsoft.com/office/drawing/2014/main" id="{0E18542A-E7F1-42DC-A297-0203B20B2A63}"/>
              </a:ext>
            </a:extLst>
          </p:cNvPr>
          <p:cNvSpPr/>
          <p:nvPr/>
        </p:nvSpPr>
        <p:spPr>
          <a:xfrm>
            <a:off x="5462966" y="2052848"/>
            <a:ext cx="568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Tripolr</a:t>
            </a:r>
            <a:endParaRPr lang="en-US" sz="1200" dirty="0"/>
          </a:p>
        </p:txBody>
      </p:sp>
      <p:sp>
        <p:nvSpPr>
          <p:cNvPr id="95" name="Text 23">
            <a:extLst>
              <a:ext uri="{FF2B5EF4-FFF2-40B4-BE49-F238E27FC236}">
                <a16:creationId xmlns:a16="http://schemas.microsoft.com/office/drawing/2014/main" id="{458DC0FB-94D2-E225-8FE0-4538DC05BCC0}"/>
              </a:ext>
            </a:extLst>
          </p:cNvPr>
          <p:cNvSpPr/>
          <p:nvPr/>
        </p:nvSpPr>
        <p:spPr>
          <a:xfrm>
            <a:off x="5642578" y="2542665"/>
            <a:ext cx="1227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WHITE SPACE</a:t>
            </a:r>
            <a:endParaRPr lang="en-US" sz="900" dirty="0"/>
          </a:p>
        </p:txBody>
      </p:sp>
      <p:sp>
        <p:nvSpPr>
          <p:cNvPr id="96" name="Text 24">
            <a:extLst>
              <a:ext uri="{FF2B5EF4-FFF2-40B4-BE49-F238E27FC236}">
                <a16:creationId xmlns:a16="http://schemas.microsoft.com/office/drawing/2014/main" id="{5BF8E572-85C0-237B-03E8-6B152765FDE5}"/>
              </a:ext>
            </a:extLst>
          </p:cNvPr>
          <p:cNvSpPr/>
          <p:nvPr/>
        </p:nvSpPr>
        <p:spPr>
          <a:xfrm>
            <a:off x="7652082" y="191783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WEDGE</a:t>
            </a:r>
            <a:endParaRPr lang="en-US" sz="1100" dirty="0"/>
          </a:p>
        </p:txBody>
      </p:sp>
      <p:sp>
        <p:nvSpPr>
          <p:cNvPr id="97" name="Text 25">
            <a:extLst>
              <a:ext uri="{FF2B5EF4-FFF2-40B4-BE49-F238E27FC236}">
                <a16:creationId xmlns:a16="http://schemas.microsoft.com/office/drawing/2014/main" id="{78CFC59B-4867-D771-4801-D3FCDD6DE4A2}"/>
              </a:ext>
            </a:extLst>
          </p:cNvPr>
          <p:cNvSpPr/>
          <p:nvPr/>
        </p:nvSpPr>
        <p:spPr>
          <a:xfrm>
            <a:off x="7652082" y="223787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Multiplayer canvas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AI-native generation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Social-media extraction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APAC localisation</a:t>
            </a:r>
            <a:endParaRPr lang="en-US" sz="1600" dirty="0"/>
          </a:p>
        </p:txBody>
      </p:sp>
      <p:sp>
        <p:nvSpPr>
          <p:cNvPr id="98" name="Text 26">
            <a:extLst>
              <a:ext uri="{FF2B5EF4-FFF2-40B4-BE49-F238E27FC236}">
                <a16:creationId xmlns:a16="http://schemas.microsoft.com/office/drawing/2014/main" id="{863EE994-278C-C4AE-E4E5-CD5C06D85188}"/>
              </a:ext>
            </a:extLst>
          </p:cNvPr>
          <p:cNvSpPr/>
          <p:nvPr/>
        </p:nvSpPr>
        <p:spPr>
          <a:xfrm>
            <a:off x="7652082" y="374663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Wanderlog has multiplayer but no AI. Mindtrip &amp; Layla are AI-first but US-centric and weak on group editing. Trip.com &amp; Klook AI route only their own inventory. Nobody has all four.</a:t>
            </a:r>
            <a:endParaRPr lang="en-US" sz="1050" dirty="0"/>
          </a:p>
        </p:txBody>
      </p:sp>
      <p:sp>
        <p:nvSpPr>
          <p:cNvPr id="99" name="Shape 27">
            <a:extLst>
              <a:ext uri="{FF2B5EF4-FFF2-40B4-BE49-F238E27FC236}">
                <a16:creationId xmlns:a16="http://schemas.microsoft.com/office/drawing/2014/main" id="{9622F1ED-3877-F7E6-1C91-51199D5FDF95}"/>
              </a:ext>
            </a:extLst>
          </p:cNvPr>
          <p:cNvSpPr/>
          <p:nvPr/>
        </p:nvSpPr>
        <p:spPr>
          <a:xfrm>
            <a:off x="685800" y="5592790"/>
            <a:ext cx="10789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28">
            <a:extLst>
              <a:ext uri="{FF2B5EF4-FFF2-40B4-BE49-F238E27FC236}">
                <a16:creationId xmlns:a16="http://schemas.microsoft.com/office/drawing/2014/main" id="{3F679DF5-C0DC-4686-3A3E-68E41702E1FC}"/>
              </a:ext>
            </a:extLst>
          </p:cNvPr>
          <p:cNvSpPr/>
          <p:nvPr/>
        </p:nvSpPr>
        <p:spPr>
          <a:xfrm>
            <a:off x="914400" y="559279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COMPETITORS — CHANNEL PARTNERS:  </a:t>
            </a: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Klook · Trip.com · Booking.com · Agoda · GetYourGuide · Viator pay us 4–10% commission to send qualified, high-intent travelers.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85988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COMPETITIVE 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The category is active, so the wedge must be specific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Wanderlog and Mindtrip already combine AI and collaboration. Tripolr should win on a narrower Hong Kong group-planning workflow.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355848" cy="493776"/>
          </a:xfrm>
          <a:prstGeom prst="rect">
            <a:avLst/>
          </a:prstGeom>
          <a:solidFill>
            <a:srgbClr val="1528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" y="1975104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FFFFFF"/>
                </a:solidFill>
              </a:rPr>
              <a:t>Capability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3968496" y="1828800"/>
            <a:ext cx="1883664" cy="493776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41648" y="19751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Tripolr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870448" y="1828800"/>
            <a:ext cx="1883664" cy="493776"/>
          </a:xfrm>
          <a:prstGeom prst="rect">
            <a:avLst/>
          </a:prstGeom>
          <a:solidFill>
            <a:srgbClr val="1528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0" y="19751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Wanderlog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772400" y="1828800"/>
            <a:ext cx="1883664" cy="493776"/>
          </a:xfrm>
          <a:prstGeom prst="rect">
            <a:avLst/>
          </a:prstGeom>
          <a:solidFill>
            <a:srgbClr val="1528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45552" y="19751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Mindtrip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674352" y="1828800"/>
            <a:ext cx="1920240" cy="493776"/>
          </a:xfrm>
          <a:prstGeom prst="rect">
            <a:avLst/>
          </a:prstGeom>
          <a:solidFill>
            <a:srgbClr val="1528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47504" y="197510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Layla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94360" y="2322576"/>
            <a:ext cx="3355848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" y="248716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7212B"/>
                </a:solidFill>
              </a:rPr>
              <a:t>AI-assisted itinerary planning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3968496" y="2322576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41648" y="2487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70448" y="2322576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0" y="2487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322576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45552" y="2487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74352" y="2322576"/>
            <a:ext cx="1920240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47504" y="248716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2889504"/>
            <a:ext cx="335584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7512" y="3054096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7212B"/>
                </a:solidFill>
              </a:rPr>
              <a:t>Shared / collaborative trip planning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3968496" y="2889504"/>
            <a:ext cx="1883664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41648" y="30540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70448" y="2889504"/>
            <a:ext cx="1883664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0" y="30540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0" y="2889504"/>
            <a:ext cx="1883664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45552" y="30540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674352" y="2889504"/>
            <a:ext cx="19202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747504" y="305409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○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" y="3456432"/>
            <a:ext cx="3355848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7512" y="3621024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7212B"/>
                </a:solidFill>
              </a:rPr>
              <a:t>Social content to structured places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3968496" y="3456432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041648" y="3621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●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70448" y="3456432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43600" y="3621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○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772400" y="3456432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845552" y="3621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●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674352" y="3456432"/>
            <a:ext cx="1920240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747504" y="362102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◐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94360" y="4023360"/>
            <a:ext cx="335584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7512" y="4187952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7212B"/>
                </a:solidFill>
              </a:rPr>
              <a:t>Structured group preference reconciliation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3968496" y="4023360"/>
            <a:ext cx="1883664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041648" y="4187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◐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870448" y="4023360"/>
            <a:ext cx="1883664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943600" y="4187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◐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772400" y="4023360"/>
            <a:ext cx="1883664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845552" y="4187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◐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674352" y="4023360"/>
            <a:ext cx="19202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747504" y="418795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○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94360" y="4590288"/>
            <a:ext cx="3355848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67512" y="475488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7212B"/>
                </a:solidFill>
              </a:rPr>
              <a:t>Hong Kong student-group beachhead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3968496" y="4590288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041648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◐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870448" y="4590288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943600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○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772400" y="4590288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845552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○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9674352" y="4590288"/>
            <a:ext cx="1920240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747504" y="475488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○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85800" y="539496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58952" y="5458968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2F855A"/>
                </a:solidFill>
              </a:rPr>
              <a:t>● AVAILABLE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1965960" y="5394960"/>
            <a:ext cx="1572768" cy="292608"/>
          </a:xfrm>
          <a:prstGeom prst="roundRect">
            <a:avLst>
              <a:gd name="adj" fmla="val 25000"/>
            </a:avLst>
          </a:prstGeom>
          <a:solidFill>
            <a:srgbClr val="FFF1DC"/>
          </a:solidFill>
          <a:ln w="12700">
            <a:solidFill>
              <a:srgbClr val="FFF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039112" y="545896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9A5A1A"/>
                </a:solidFill>
              </a:rPr>
              <a:t>◐ BUILD / VALIDATE</a:t>
            </a:r>
            <a:endParaRPr lang="en-US" sz="760" dirty="0"/>
          </a:p>
        </p:txBody>
      </p:sp>
      <p:sp>
        <p:nvSpPr>
          <p:cNvPr id="69" name="Shape 67"/>
          <p:cNvSpPr/>
          <p:nvPr/>
        </p:nvSpPr>
        <p:spPr>
          <a:xfrm>
            <a:off x="3675888" y="5394960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749040" y="5458968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5B6777"/>
                </a:solidFill>
              </a:rPr>
              <a:t>○ NOT CORE</a:t>
            </a:r>
            <a:endParaRPr lang="en-US" sz="760" dirty="0"/>
          </a:p>
        </p:txBody>
      </p:sp>
      <p:sp>
        <p:nvSpPr>
          <p:cNvPr id="71" name="Text 69"/>
          <p:cNvSpPr/>
          <p:nvPr/>
        </p:nvSpPr>
        <p:spPr>
          <a:xfrm>
            <a:off x="5074920" y="526694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3B82F6"/>
                </a:solidFill>
              </a:rPr>
              <a:t>Defensible wedge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400800" y="52303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5283B"/>
                </a:solidFill>
              </a:rPr>
              <a:t>Social inspiration → explicit group trade-offs → route-aware editable plan, designed and validated in Hong Kong.</a:t>
            </a:r>
            <a:endParaRPr lang="en-US" sz="1050" dirty="0"/>
          </a:p>
        </p:txBody>
      </p:sp>
      <p:sp>
        <p:nvSpPr>
          <p:cNvPr id="7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Planning stays free. Revenue follows validated booking intent.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Tripolr will test one monetisation hypothesis before expanding into additional channels.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2560320" cy="2423160"/>
          </a:xfrm>
          <a:prstGeom prst="roundRect">
            <a:avLst>
              <a:gd name="adj" fmla="val 3019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2011680"/>
            <a:ext cx="310896" cy="310896"/>
          </a:xfrm>
          <a:prstGeom prst="ellipse">
            <a:avLst/>
          </a:prstGeom>
          <a:solidFill>
            <a:srgbClr val="77A7FF"/>
          </a:solidFill>
          <a:ln w="12700">
            <a:solidFill>
              <a:srgbClr val="7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20980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16736" y="20754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7A7FF"/>
                </a:solidFill>
              </a:rPr>
              <a:t>VALIDATE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9536" y="26243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Free planning + collaboration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34107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8E6F3"/>
                </a:solidFill>
              </a:rPr>
              <a:t>Measure usage, retention and booking interest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3236976" y="279806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7A7FF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93008" y="1828800"/>
            <a:ext cx="25603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75888" y="201168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75888" y="20980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51376" y="20754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B82F6"/>
                </a:solidFill>
              </a:rPr>
              <a:t>REFER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94176" y="26243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Selected high-intent categories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94176" y="34107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B6777"/>
                </a:solidFill>
              </a:rPr>
              <a:t>Affiliate or referral links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071616" y="279806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7A7FF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327648" y="1828800"/>
            <a:ext cx="25603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10528" y="201168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10528" y="20980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86016" y="20754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B82F6"/>
                </a:solidFill>
              </a:rPr>
              <a:t>INTEGRATE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28816" y="26243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Direct travel partnerships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28816" y="34107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B6777"/>
                </a:solidFill>
              </a:rPr>
              <a:t>Deeper booking connections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8906256" y="279806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7A7FF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162288" y="1828800"/>
            <a:ext cx="25603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345168" y="201168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345168" y="20980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820656" y="20754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B82F6"/>
                </a:solidFill>
              </a:rPr>
              <a:t>EXPAND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363456" y="26243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Separately validated options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63456" y="34107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B6777"/>
                </a:solidFill>
              </a:rPr>
              <a:t>Sponsored placements + B2B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85800" y="4663440"/>
            <a:ext cx="10835640" cy="896112"/>
          </a:xfrm>
          <a:prstGeom prst="roundRect">
            <a:avLst>
              <a:gd name="adj" fmla="val 8163"/>
            </a:avLst>
          </a:prstGeom>
          <a:solidFill>
            <a:srgbClr val="F1F6FC"/>
          </a:solidFill>
          <a:ln w="12700">
            <a:solidFill>
              <a:srgbClr val="D5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4400" y="48828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kern="0" spc="100" dirty="0">
                <a:solidFill>
                  <a:srgbClr val="3B82F6"/>
                </a:solidFill>
              </a:rPr>
              <a:t>FIRST COMMERCIAL HYPOTHESIS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3246120" y="4828032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5283B"/>
                </a:solidFill>
              </a:rPr>
              <a:t>Groups that complete a collaborative itinerary will show stronger intent to book relevant travel services.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64408" y="521208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7"/>
                </a:solidFill>
              </a:rPr>
              <a:t>All sponsored or paid content will be clearly labelled.</a:t>
            </a:r>
            <a:endParaRPr lang="en-US" sz="9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GO TO MARKET &amp;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Launch the stable MVP in Month 3, then validate behaviour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A focused, product-led pilot keeps acquisition costs low and learning speed high.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14400" y="2898648"/>
            <a:ext cx="10149840" cy="0"/>
          </a:xfrm>
          <a:prstGeom prst="line">
            <a:avLst/>
          </a:prstGeom>
          <a:noFill/>
          <a:ln w="50800">
            <a:solidFill>
              <a:srgbClr val="BFD3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16152" y="2642616"/>
            <a:ext cx="512064" cy="51206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16152" y="280720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86384" y="34015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12B"/>
                </a:solidFill>
              </a:rPr>
              <a:t>Research + 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3840480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777"/>
                </a:solidFill>
              </a:rPr>
              <a:t>Prioritised UAT backlog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063240" y="2642616"/>
            <a:ext cx="512064" cy="51206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63240" y="280720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33472" y="34015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12B"/>
                </a:solidFill>
              </a:rPr>
              <a:t>UX + quality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3840480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777"/>
                </a:solidFill>
              </a:rPr>
              <a:t>Core journey and bug fixes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910328" y="2642616"/>
            <a:ext cx="512064" cy="512064"/>
          </a:xfrm>
          <a:prstGeom prst="ellipse">
            <a:avLst/>
          </a:prstGeom>
          <a:solidFill>
            <a:srgbClr val="1528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0328" y="280720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480560" y="34015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12B"/>
                </a:solidFill>
              </a:rPr>
              <a:t>Stable web MVP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3840480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777"/>
                </a:solidFill>
              </a:rPr>
              <a:t>Pilot-ready release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757416" y="2642616"/>
            <a:ext cx="512064" cy="51206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57416" y="280720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327648" y="34015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12B"/>
                </a:solidFill>
              </a:rPr>
              <a:t>Collaboration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4496" y="3840480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777"/>
                </a:solidFill>
              </a:rPr>
              <a:t>Preferences + partial replanning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604504" y="2642616"/>
            <a:ext cx="512064" cy="51206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04504" y="280720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174736" y="34015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12B"/>
                </a:solidFill>
              </a:rPr>
              <a:t>Focused pilot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01584" y="3840480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777"/>
                </a:solidFill>
              </a:rPr>
              <a:t>50+ users and usage data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10451592" y="2642616"/>
            <a:ext cx="512064" cy="51206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451592" y="280720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021824" y="34015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12B"/>
                </a:solidFill>
              </a:rPr>
              <a:t>Refine + plan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948672" y="3840480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777"/>
                </a:solidFill>
              </a:rPr>
              <a:t>Evaluation and launch plan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85800" y="4736592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32688" y="4992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7A7FF"/>
                </a:solidFill>
              </a:rPr>
              <a:t>PILOT CHANNELS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14600" y="495604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</a:rPr>
              <a:t>Student societies  •  university communities  •  personal and alumni networks  •  travel communities  •  user invitations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731520" y="58064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Milestone: market-testable web MVP within three months of funding commencement.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331D54A-628F-09DA-CC48-7C3EB7556CCB}"/>
              </a:ext>
            </a:extLst>
          </p:cNvPr>
          <p:cNvSpPr/>
          <p:nvPr/>
        </p:nvSpPr>
        <p:spPr>
          <a:xfrm>
            <a:off x="502920" y="256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RESPONSIBILITY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79A801F-015B-1B27-C423-1C2E198C1ACF}"/>
              </a:ext>
            </a:extLst>
          </p:cNvPr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Inclusive planning with transparent, human-controlled AI</a:t>
            </a:r>
            <a:endParaRPr lang="en-US" sz="2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00E4857-EFF1-46C6-D44F-C3AA11D056D0}"/>
              </a:ext>
            </a:extLst>
          </p:cNvPr>
          <p:cNvSpPr/>
          <p:nvPr/>
        </p:nvSpPr>
        <p:spPr>
          <a:xfrm>
            <a:off x="502920" y="107899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Tripolr connects social responsibility directly to product design and measurable pilot behaviour.</a:t>
            </a:r>
            <a:endParaRPr lang="en-US" sz="12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5D53FC8F-C5AB-7F98-BAE9-F0DC9ABD3539}"/>
              </a:ext>
            </a:extLst>
          </p:cNvPr>
          <p:cNvSpPr/>
          <p:nvPr/>
        </p:nvSpPr>
        <p:spPr>
          <a:xfrm>
            <a:off x="502920" y="1664208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8FAFD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234AE649-11BC-0807-240C-85B6F2EE42A3}"/>
              </a:ext>
            </a:extLst>
          </p:cNvPr>
          <p:cNvSpPr/>
          <p:nvPr/>
        </p:nvSpPr>
        <p:spPr>
          <a:xfrm>
            <a:off x="667512" y="181051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AI</a:t>
            </a:r>
            <a:endParaRPr lang="en-US" sz="10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33D8C4A-DEB7-2CEA-BB1C-95196BBBDBB0}"/>
              </a:ext>
            </a:extLst>
          </p:cNvPr>
          <p:cNvSpPr/>
          <p:nvPr/>
        </p:nvSpPr>
        <p:spPr>
          <a:xfrm>
            <a:off x="667512" y="210312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Suggestions, not guaranteed decisions</a:t>
            </a:r>
            <a:endParaRPr lang="en-US" sz="16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9C09195-D1D9-C29A-71D9-CDC4DCDC2E6E}"/>
              </a:ext>
            </a:extLst>
          </p:cNvPr>
          <p:cNvSpPr/>
          <p:nvPr/>
        </p:nvSpPr>
        <p:spPr>
          <a:xfrm>
            <a:off x="667512" y="2596896"/>
            <a:ext cx="218541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B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review, edit, accept or reject AI outputs. Important details are flagged for verification and paid content is labelled.</a:t>
            </a:r>
            <a:endParaRPr lang="en-US" sz="115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90DD5616-9CBC-60E2-FB8C-564E98245930}"/>
              </a:ext>
            </a:extLst>
          </p:cNvPr>
          <p:cNvSpPr/>
          <p:nvPr/>
        </p:nvSpPr>
        <p:spPr>
          <a:xfrm>
            <a:off x="3291840" y="1664208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8FAFD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D957E139-863F-9F26-186E-1F16EA357130}"/>
              </a:ext>
            </a:extLst>
          </p:cNvPr>
          <p:cNvSpPr/>
          <p:nvPr/>
        </p:nvSpPr>
        <p:spPr>
          <a:xfrm>
            <a:off x="3456432" y="181051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BY DESIGN</a:t>
            </a:r>
            <a:endParaRPr lang="en-US" sz="10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80BF9FD-B737-D182-4405-ED11E7366157}"/>
              </a:ext>
            </a:extLst>
          </p:cNvPr>
          <p:cNvSpPr/>
          <p:nvPr/>
        </p:nvSpPr>
        <p:spPr>
          <a:xfrm>
            <a:off x="3456432" y="210312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over shared trip information</a:t>
            </a:r>
            <a:endParaRPr lang="en-US" sz="16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BFDF8DEE-C9FB-29BE-34DB-039D41DEABF8}"/>
              </a:ext>
            </a:extLst>
          </p:cNvPr>
          <p:cNvSpPr/>
          <p:nvPr/>
        </p:nvSpPr>
        <p:spPr>
          <a:xfrm>
            <a:off x="3456432" y="2596896"/>
            <a:ext cx="218541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B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Minimise data collection and provide clear controls over who can view or edit preferences, locations and schedules.</a:t>
            </a:r>
            <a:endParaRPr lang="en-US" sz="115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27E4A372-B3D2-35D0-F558-3773ED13798A}"/>
              </a:ext>
            </a:extLst>
          </p:cNvPr>
          <p:cNvSpPr/>
          <p:nvPr/>
        </p:nvSpPr>
        <p:spPr>
          <a:xfrm>
            <a:off x="6080760" y="1664208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8FAFD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E1AAE538-CD62-F3B0-CFAD-E7B242A55C14}"/>
              </a:ext>
            </a:extLst>
          </p:cNvPr>
          <p:cNvSpPr/>
          <p:nvPr/>
        </p:nvSpPr>
        <p:spPr>
          <a:xfrm>
            <a:off x="6245352" y="181051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A5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INCLUSIVE PLANNING</a:t>
            </a:r>
            <a:endParaRPr lang="en-US" sz="10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7383FB55-D35E-FA22-5C27-340A296BDC30}"/>
              </a:ext>
            </a:extLst>
          </p:cNvPr>
          <p:cNvSpPr/>
          <p:nvPr/>
        </p:nvSpPr>
        <p:spPr>
          <a:xfrm>
            <a:off x="6245352" y="210312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different needs visible</a:t>
            </a:r>
            <a:endParaRPr lang="en-US" sz="16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A4399CB7-8F9A-4712-9D4C-845C92185868}"/>
              </a:ext>
            </a:extLst>
          </p:cNvPr>
          <p:cNvSpPr/>
          <p:nvPr/>
        </p:nvSpPr>
        <p:spPr>
          <a:xfrm>
            <a:off x="6245352" y="2596896"/>
            <a:ext cx="218541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B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budget, pace, time and accessibility so planning does not depend on one organiser or the loudest voice.</a:t>
            </a:r>
            <a:endParaRPr lang="en-US" sz="115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A6F2FF5D-69DB-EECA-3C41-A5AE57E47209}"/>
              </a:ext>
            </a:extLst>
          </p:cNvPr>
          <p:cNvSpPr/>
          <p:nvPr/>
        </p:nvSpPr>
        <p:spPr>
          <a:xfrm>
            <a:off x="8869680" y="1664208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8FAFD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8D2855A8-03C9-E8BD-A733-9D4EEED99977}"/>
              </a:ext>
            </a:extLst>
          </p:cNvPr>
          <p:cNvSpPr/>
          <p:nvPr/>
        </p:nvSpPr>
        <p:spPr>
          <a:xfrm>
            <a:off x="9034272" y="181051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CORE ACCESS</a:t>
            </a:r>
            <a:endParaRPr lang="en-US" sz="10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A575FE31-DABF-95D1-B4F0-CD5189F84EBD}"/>
              </a:ext>
            </a:extLst>
          </p:cNvPr>
          <p:cNvSpPr/>
          <p:nvPr/>
        </p:nvSpPr>
        <p:spPr>
          <a:xfrm>
            <a:off x="9034272" y="210312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barriers to participation</a:t>
            </a:r>
            <a:endParaRPr lang="en-US" sz="16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29504B14-3556-EBD9-E8CF-536B19969965}"/>
              </a:ext>
            </a:extLst>
          </p:cNvPr>
          <p:cNvSpPr/>
          <p:nvPr/>
        </p:nvSpPr>
        <p:spPr>
          <a:xfrm>
            <a:off x="9034272" y="2596896"/>
            <a:ext cx="218541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B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place collection, itinerary planning and collaboration remain free during validation.</a:t>
            </a:r>
            <a:endParaRPr lang="en-US" sz="11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D554295E-DDD6-BAA6-A6EC-22133518DE0D}"/>
              </a:ext>
            </a:extLst>
          </p:cNvPr>
          <p:cNvSpPr/>
          <p:nvPr/>
        </p:nvSpPr>
        <p:spPr>
          <a:xfrm>
            <a:off x="502920" y="5413248"/>
            <a:ext cx="11183112" cy="868680"/>
          </a:xfrm>
          <a:prstGeom prst="roundRect">
            <a:avLst/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E5EB7764-38C0-CC5A-E80E-9B2B1B57CD8B}"/>
              </a:ext>
            </a:extLst>
          </p:cNvPr>
          <p:cNvSpPr/>
          <p:nvPr/>
        </p:nvSpPr>
        <p:spPr>
          <a:xfrm>
            <a:off x="749808" y="55595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7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CCMF PILOT INDICATORS</a:t>
            </a:r>
            <a:endParaRPr lang="en-US" sz="10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D3A0D085-19DC-1446-BD66-3888F42FF935}"/>
              </a:ext>
            </a:extLst>
          </p:cNvPr>
          <p:cNvSpPr/>
          <p:nvPr/>
        </p:nvSpPr>
        <p:spPr>
          <a:xfrm>
            <a:off x="2560320" y="5504688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contribution  •  itinerary review  •  AI clarity  •  permission-control usability</a:t>
            </a:r>
            <a:endParaRPr lang="en-US" sz="14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90DA0CCC-1A17-7384-2002-9B597DDCDBC6}"/>
              </a:ext>
            </a:extLst>
          </p:cNvPr>
          <p:cNvSpPr/>
          <p:nvPr/>
        </p:nvSpPr>
        <p:spPr>
          <a:xfrm>
            <a:off x="731520" y="635508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B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efficiency is a potential practical benefit. Environmental impact will only be claimed if measured.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506419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USE OF FUNDS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HK$100,000 tied to product readiness and validation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No founder salary is included. Each major cost supports a six-month delivery outcome.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Development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48840" y="1810512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18120" y="18470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42%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49056" y="18288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HK$42,000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591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UI / UX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2340864"/>
            <a:ext cx="2370909" cy="310896"/>
          </a:xfrm>
          <a:prstGeom prst="roundRect">
            <a:avLst>
              <a:gd name="adj" fmla="val 11765"/>
            </a:avLst>
          </a:prstGeom>
          <a:solidFill>
            <a:srgbClr val="6C9DF2"/>
          </a:solidFill>
          <a:ln w="12700">
            <a:solidFill>
              <a:srgbClr val="6C9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18120" y="23774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18%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49056" y="235915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HK$18,000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889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Cloud + APIs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2871216"/>
            <a:ext cx="1580606" cy="310896"/>
          </a:xfrm>
          <a:prstGeom prst="roundRect">
            <a:avLst>
              <a:gd name="adj" fmla="val 11765"/>
            </a:avLst>
          </a:prstGeom>
          <a:solidFill>
            <a:srgbClr val="83B2FF"/>
          </a:solidFill>
          <a:ln w="12700">
            <a:solidFill>
              <a:srgbClr val="83B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8120" y="29077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12%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49056" y="28895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HK$12,000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4198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Security + QA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48840" y="3401568"/>
            <a:ext cx="1053737" cy="310896"/>
          </a:xfrm>
          <a:prstGeom prst="roundRect">
            <a:avLst>
              <a:gd name="adj" fmla="val 11765"/>
            </a:avLst>
          </a:prstGeom>
          <a:solidFill>
            <a:srgbClr val="9FC2FF"/>
          </a:solidFill>
          <a:ln w="12700">
            <a:solidFill>
              <a:srgbClr val="9F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18120" y="34381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49056" y="34198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HK$8,000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9502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Pilot marketing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48840" y="3931920"/>
            <a:ext cx="1053737" cy="310896"/>
          </a:xfrm>
          <a:prstGeom prst="roundRect">
            <a:avLst>
              <a:gd name="adj" fmla="val 11765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18120" y="39684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8%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49056" y="39502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HK$8,000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User testing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48840" y="4462272"/>
            <a:ext cx="790303" cy="310896"/>
          </a:xfrm>
          <a:prstGeom prst="roundRect">
            <a:avLst>
              <a:gd name="adj" fmla="val 11765"/>
            </a:avLst>
          </a:prstGeom>
          <a:solidFill>
            <a:srgbClr val="79B696"/>
          </a:solidFill>
          <a:ln w="12700">
            <a:solidFill>
              <a:srgbClr val="79B6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18120" y="44988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6%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49056" y="44805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HK$6,000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50109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Legal + privacy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48840" y="4992624"/>
            <a:ext cx="790303" cy="310896"/>
          </a:xfrm>
          <a:prstGeom prst="roundRect">
            <a:avLst>
              <a:gd name="adj" fmla="val 11765"/>
            </a:avLst>
          </a:prstGeom>
          <a:solidFill>
            <a:srgbClr val="A1C9B4"/>
          </a:solidFill>
          <a:ln w="12700">
            <a:solidFill>
              <a:srgbClr val="A1C9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18120" y="502920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6%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49056" y="50109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HK$6,000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802368" y="1810512"/>
            <a:ext cx="1737360" cy="3703320"/>
          </a:xfrm>
          <a:prstGeom prst="roundRect">
            <a:avLst>
              <a:gd name="adj" fmla="val 4211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012680" y="2249424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88%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10040112" y="30175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E6F3"/>
                </a:solidFill>
              </a:rPr>
              <a:t>product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8E6F3"/>
                </a:solidFill>
              </a:rPr>
              <a:t>technical readiness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195560" y="3730752"/>
            <a:ext cx="960120" cy="0"/>
          </a:xfrm>
          <a:prstGeom prst="line">
            <a:avLst/>
          </a:prstGeom>
          <a:noFill/>
          <a:ln w="12700">
            <a:solidFill>
              <a:srgbClr val="4866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085832" y="3986784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77A7FF"/>
                </a:solidFill>
              </a:rPr>
              <a:t>Development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7A7FF"/>
                </a:solidFill>
              </a:rPr>
              <a:t>UI / UX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7A7FF"/>
                </a:solidFill>
              </a:rPr>
              <a:t>Cloud + APIs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7A7FF"/>
                </a:solidFill>
              </a:rPr>
              <a:t>Security + QA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13232" y="58064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283B"/>
                </a:solidFill>
              </a:rPr>
              <a:t>Founder contribution: product strategy, requirements, development direction, UAT and delivery control.</a:t>
            </a:r>
            <a:endParaRPr lang="en-US" sz="10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FOUNDER &amp; EXECUTION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The founder has already delivered the first deployed prototype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CCMF support adds specialist capacity without transferring product ownership.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01368"/>
            <a:ext cx="3657600" cy="3794760"/>
          </a:xfrm>
          <a:prstGeom prst="roundRect">
            <a:avLst>
              <a:gd name="adj" fmla="val 2000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2176272"/>
            <a:ext cx="914400" cy="914400"/>
          </a:xfrm>
          <a:prstGeom prst="rect">
            <a:avLst/>
          </a:prstGeom>
          <a:solidFill>
            <a:srgbClr val="264E6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</a:rPr>
              <a:t>YCW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Yuen Chi Wang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730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7A7FF"/>
                </a:solidFill>
              </a:rPr>
              <a:t>Founder &amp; Project Lead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2611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6F3"/>
                </a:solidFill>
              </a:rPr>
              <a:t>30 hours / week dedicated to Tripolr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Built and deployed the current web prototype with AI coding-agent support.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5152" y="1847088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18304" y="1911096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FFFFFF"/>
                </a:solidFill>
              </a:rPr>
              <a:t>1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5193792" y="18562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Delivery discipline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50608" y="185623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B6777"/>
                </a:solidFill>
              </a:rPr>
              <a:t>2 years in business analysis across banking and insurance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4645152" y="2807208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18304" y="2871216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FFFFFF"/>
                </a:solidFill>
              </a:rPr>
              <a:t>2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5193792" y="2816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Product practice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50608" y="281635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B6777"/>
                </a:solidFill>
              </a:rPr>
              <a:t>Requirements, stakeholders, UAT and process improvement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645152" y="3767328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8304" y="3831336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FFFFFF"/>
                </a:solidFill>
              </a:rPr>
              <a:t>3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5193792" y="37764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Technical capability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50608" y="377647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B6777"/>
                </a:solidFill>
              </a:rPr>
              <a:t>Next.js, FastAPI, PostgreSQL, Docker and Cloudflare Tunnel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4617720" y="4663440"/>
            <a:ext cx="6903720" cy="932688"/>
          </a:xfrm>
          <a:prstGeom prst="roundRect">
            <a:avLst>
              <a:gd name="adj" fmla="val 7843"/>
            </a:avLst>
          </a:prstGeom>
          <a:solidFill>
            <a:srgbClr val="F1F6FC"/>
          </a:solidFill>
          <a:ln w="12700">
            <a:solidFill>
              <a:srgbClr val="D5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82896" y="48920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B82F6"/>
                </a:solidFill>
              </a:rPr>
              <a:t>DELIVERY MODEL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19088" y="483717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5283B"/>
                </a:solidFill>
              </a:rPr>
              <a:t>Founder-owned: priorities, requirements, product, UAT and acceptance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419088" y="51755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77"/>
                </a:solidFill>
              </a:rPr>
              <a:t>Specialist-supported: UI/UX, security, QA and selected development deliverables</a:t>
            </a:r>
            <a:endParaRPr lang="en-US" sz="9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566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77A7FF"/>
                </a:solidFill>
              </a:rPr>
              <a:t>TRIPOLR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From a working prototype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to validated group behaviour.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76656" y="2761488"/>
            <a:ext cx="5138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8E6F3"/>
                </a:solidFill>
              </a:rPr>
              <a:t>With CCMF support, Tripolr will release a stable web MVP within three months and complete a focused market-validation pilot within six months.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24445F"/>
          </a:solidFill>
          <a:ln w="12700">
            <a:solidFill>
              <a:srgbClr val="365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77A7FF"/>
                </a:solidFill>
              </a:rPr>
              <a:t>M3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43708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Stable web MVP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2404872" y="397764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24445F"/>
          </a:solidFill>
          <a:ln w="12700">
            <a:solidFill>
              <a:srgbClr val="365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96312" y="41148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77A7FF"/>
                </a:solidFill>
              </a:rPr>
              <a:t>M6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496312" y="43708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50+ user pilot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123944" y="397764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15384" y="41148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</a:rPr>
              <a:t>OUTCOME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15384" y="43708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Evidence for launch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85800" y="53492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Yuen Chi Wang  |  Founder &amp; Project Lead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5715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A7FF"/>
                </a:solidFill>
              </a:rPr>
              <a:t>uat.tripolr.com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91072" y="1078992"/>
            <a:ext cx="5230368" cy="3456432"/>
          </a:xfrm>
          <a:prstGeom prst="roundRect">
            <a:avLst>
              <a:gd name="adj" fmla="val 2116"/>
            </a:avLst>
          </a:prstGeom>
          <a:solidFill>
            <a:srgbClr val="F8FBFF"/>
          </a:solidFill>
          <a:ln w="12700">
            <a:solidFill>
              <a:srgbClr val="7B9B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73952" y="1261872"/>
            <a:ext cx="4864608" cy="3054096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12700">
            <a:solidFill>
              <a:srgbClr val="B9C9D8"/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3952" y="1261872"/>
            <a:ext cx="4864608" cy="256032"/>
          </a:xfrm>
          <a:prstGeom prst="rect">
            <a:avLst/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20256" y="1344168"/>
            <a:ext cx="73152" cy="73152"/>
          </a:xfrm>
          <a:prstGeom prst="ellipse">
            <a:avLst/>
          </a:prstGeom>
          <a:solidFill>
            <a:srgbClr val="E56A6A"/>
          </a:solidFill>
          <a:ln w="12700">
            <a:solidFill>
              <a:srgbClr val="E56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84848" y="1344168"/>
            <a:ext cx="73152" cy="73152"/>
          </a:xfrm>
          <a:prstGeom prst="ellipse">
            <a:avLst/>
          </a:prstGeom>
          <a:solidFill>
            <a:srgbClr val="E8B84E"/>
          </a:solidFill>
          <a:ln w="12700">
            <a:solidFill>
              <a:srgbClr val="E8B8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1344168"/>
            <a:ext cx="73152" cy="73152"/>
          </a:xfrm>
          <a:prstGeom prst="ellipse">
            <a:avLst/>
          </a:prstGeom>
          <a:solidFill>
            <a:srgbClr val="61B875"/>
          </a:solidFill>
          <a:ln w="12700">
            <a:solidFill>
              <a:srgbClr val="61B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/mnt/data/cap_screen_extract/word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1647277"/>
            <a:ext cx="4617720" cy="225585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06640" y="40416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283B"/>
                </a:solidFill>
              </a:rPr>
              <a:t>AI-assisted itinerary generation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2163</Words>
  <Application>Microsoft Office PowerPoint</Application>
  <PresentationFormat>Widescreen</PresentationFormat>
  <Paragraphs>370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Orbitron</vt:lpstr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Tripolr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Tripolr CCMF Pitch Deck Revised</dc:title>
  <dc:subject>CCMF Hong Kong Programme Pitch Deck</dc:subject>
  <dc:creator>Hadrian Yuen</dc:creator>
  <cp:lastModifiedBy>Hadrian Yuen</cp:lastModifiedBy>
  <cp:revision>6</cp:revision>
  <dcterms:created xsi:type="dcterms:W3CDTF">2026-07-22T08:30:50Z</dcterms:created>
  <dcterms:modified xsi:type="dcterms:W3CDTF">2026-07-26T15:21:17Z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dd5db4b-78fb-42ac-8616-2bbd1a698c72_Enabled">
    <vt:lpwstr>true</vt:lpwstr>
  </property>
  <property fmtid="{D5CDD505-2E9C-101B-9397-08002B2CF9AE}" pid="3" name="MSIP_Label_0dd5db4b-78fb-42ac-8616-2bbd1a698c72_SetDate">
    <vt:lpwstr>2026-07-22T08:30:50Z</vt:lpwstr>
  </property>
  <property fmtid="{D5CDD505-2E9C-101B-9397-08002B2CF9AE}" pid="4" name="MSIP_Label_0dd5db4b-78fb-42ac-8616-2bbd1a698c72_Method">
    <vt:lpwstr>Standard</vt:lpwstr>
  </property>
  <property fmtid="{D5CDD505-2E9C-101B-9397-08002B2CF9AE}" pid="5" name="MSIP_Label_0dd5db4b-78fb-42ac-8616-2bbd1a698c72_Name">
    <vt:lpwstr>EXTERNAL</vt:lpwstr>
  </property>
  <property fmtid="{D5CDD505-2E9C-101B-9397-08002B2CF9AE}" pid="6" name="MSIP_Label_0dd5db4b-78fb-42ac-8616-2bbd1a698c72_SiteId">
    <vt:lpwstr>5d3e2773-e07f-4432-a630-1a0f68a28a05</vt:lpwstr>
  </property>
  <property fmtid="{D5CDD505-2E9C-101B-9397-08002B2CF9AE}" pid="7" name="MSIP_Label_0dd5db4b-78fb-42ac-8616-2bbd1a698c72_ActionId">
    <vt:lpwstr>1f722150-9a7c-40c5-b708-65de713acfb5</vt:lpwstr>
  </property>
  <property fmtid="{D5CDD505-2E9C-101B-9397-08002B2CF9AE}" pid="8" name="MSIP_Label_0dd5db4b-78fb-42ac-8616-2bbd1a698c72_ContentBits">
    <vt:lpwstr>0</vt:lpwstr>
  </property>
</Properties>
</file>