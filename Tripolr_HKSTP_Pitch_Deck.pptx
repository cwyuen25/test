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EF7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114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640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HKSTP IDEATION SEED FUND  ·  PITCH DECK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0" b="1" kern="0" spc="-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Tripolr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4069080" y="141732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0" b="1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together. Book once. Travel better.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3611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collaborative AI travel planner — turning ideas into bookable, optimised itineraries for travelers.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" y="626364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Hadrian Yuen Chi Wang  ·  Founder &amp; CEO  ·  chiwangyuen@gmail.com  ·  +852 9707 1013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· KEY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869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kern="0" spc="-1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Tripolr</a:t>
            </a:r>
            <a:r>
              <a:rPr lang="zh-TW" altLang="en-US" sz="3200" b="1" kern="0" spc="-1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altLang="zh-TW" sz="3200" b="1" kern="0" spc="-1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born?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545336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666666"/>
                </a:solidFill>
                <a:latin typeface="Segoe UI" pitchFamily="34" charset="0"/>
                <a:cs typeface="Segoe UI" pitchFamily="34" charset="-120"/>
              </a:rPr>
              <a:t>Travelers spent tons of times on planning, but no platform to help them on planning.</a:t>
            </a:r>
          </a:p>
          <a:p>
            <a:pPr marL="0" indent="0" algn="l">
              <a:buNone/>
            </a:pPr>
            <a:r>
              <a:rPr lang="en-US" sz="1500" dirty="0">
                <a:solidFill>
                  <a:srgbClr val="666666"/>
                </a:solidFill>
                <a:latin typeface="Segoe UI" pitchFamily="34" charset="0"/>
                <a:cs typeface="Segoe UI" pitchFamily="34" charset="-120"/>
              </a:rPr>
              <a:t>Tripolr provide a AI driven platform help travelers manage plans and bookings. A</a:t>
            </a:r>
            <a:r>
              <a:rPr lang="zh-TW" altLang="en-US" sz="1500" dirty="0">
                <a:solidFill>
                  <a:srgbClr val="666666"/>
                </a:solidFill>
                <a:latin typeface="Segoe UI" pitchFamily="34" charset="0"/>
                <a:cs typeface="Segoe UI" pitchFamily="34" charset="-120"/>
              </a:rPr>
              <a:t> </a:t>
            </a:r>
            <a:r>
              <a:rPr lang="en-US" altLang="zh-TW" sz="1500" dirty="0">
                <a:solidFill>
                  <a:srgbClr val="666666"/>
                </a:solidFill>
                <a:latin typeface="Segoe UI" pitchFamily="34" charset="0"/>
                <a:cs typeface="Segoe UI" pitchFamily="34" charset="-120"/>
              </a:rPr>
              <a:t>all-in-one Travel planning platform.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4838" y="2462338"/>
            <a:ext cx="346252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90598" y="273665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90598" y="3239578"/>
            <a:ext cx="2731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INSPIRE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90598" y="3513898"/>
            <a:ext cx="2731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&amp; share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90598" y="3971098"/>
            <a:ext cx="2731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IG, TikTok and RED posts to a shared trip wishlist with friends.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88534" y="2462338"/>
            <a:ext cx="346252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54294" y="273665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654294" y="3239578"/>
            <a:ext cx="2731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54294" y="3513898"/>
            <a:ext cx="2731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optimises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54294" y="3971098"/>
            <a:ext cx="2731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clusters places by geography and drafts a day-by-day plan.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52230" y="2462338"/>
            <a:ext cx="346252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17990" y="273665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17990" y="3239578"/>
            <a:ext cx="2731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317990" y="3513898"/>
            <a:ext cx="2731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together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17990" y="3971098"/>
            <a:ext cx="2731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votes, confirms, and books hotels in one tap.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" y="525423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NOW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552855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53%</a:t>
            </a: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HK travelers use AI to plan trips    </a:t>
            </a:r>
            <a:r>
              <a:rPr lang="en-US" sz="1200" dirty="0">
                <a:solidFill>
                  <a:srgbClr val="E0E5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  </a:t>
            </a:r>
            <a:r>
              <a:rPr lang="en-US" sz="15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104.7M</a:t>
            </a: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HK outbound trips in 2024    </a:t>
            </a:r>
            <a:r>
              <a:rPr lang="en-US" sz="1200" dirty="0">
                <a:solidFill>
                  <a:srgbClr val="E0E5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  </a:t>
            </a:r>
            <a:r>
              <a:rPr lang="en-US" sz="15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hrs</a:t>
            </a: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spent planning per trip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" y="6446520"/>
            <a:ext cx="941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Visa Consumer Payment Attitudes Study 5.0 (2026); UNWTO/ITEHK 2024 outbound report; Priceline/Harris Poll (2024).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·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869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trip planning is broken.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268588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685800" y="423454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hours per trip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4783188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Travelers spend two full work-days, jumping between 5–7 apps and an average of 277 web pages, just to plan one trip.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2177148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277 </a:t>
            </a:r>
            <a:r>
              <a:rPr lang="en-US" sz="11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pages  </a:t>
            </a: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viewed before booking — up from 38 in 2013.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217920" y="2908668"/>
            <a:ext cx="5212080" cy="0"/>
          </a:xfrm>
          <a:prstGeom prst="line">
            <a:avLst/>
          </a:prstGeom>
          <a:noFill/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0" y="2954388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43% </a:t>
            </a:r>
            <a:r>
              <a:rPr lang="en-US" sz="11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friendships  </a:t>
            </a: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experience tension over money during group planning.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17920" y="3685908"/>
            <a:ext cx="5212080" cy="0"/>
          </a:xfrm>
          <a:prstGeom prst="line">
            <a:avLst/>
          </a:prstGeom>
          <a:noFill/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0" y="3731628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12% </a:t>
            </a:r>
            <a:r>
              <a:rPr lang="en-US" sz="11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groups  </a:t>
            </a: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have someone drop out last-minute over cost.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217920" y="4463148"/>
            <a:ext cx="5212080" cy="0"/>
          </a:xfrm>
          <a:prstGeom prst="line">
            <a:avLst/>
          </a:prstGeom>
          <a:noFill/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0" y="4508868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2.2 </a:t>
            </a:r>
            <a:r>
              <a:rPr lang="en-US" sz="11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  </a:t>
            </a: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the average leisure trip — solo planning is the minority.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85800" y="6446520"/>
            <a:ext cx="941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Priceline/Harris Poll (Feb 2024); Expedia Path to Purchase (2023); University of Michigan Group Travel Study (2024); Phocuswright (2025).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· MARKET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869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market is ready — and waiting.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67335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Hong Kong outbound travel has fully recovered, AI adoption has doubled, and group travel is rebounding.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7091" y="2360016"/>
            <a:ext cx="3520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F"/>
            </a:solidFill>
            <a:prstDash val="solid"/>
          </a:ln>
          <a:effectLst>
            <a:outerShdw blurRad="1524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77091" y="2360016"/>
            <a:ext cx="3520440" cy="5486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7131" y="2725776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104.7M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997131" y="3960216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HK outbound trips in 2024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97131" y="435340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110% of pre-COVID baseline.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97131" y="473745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UNWTO/ITEHK 2025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62123" y="2360016"/>
            <a:ext cx="3520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F"/>
            </a:solidFill>
            <a:prstDash val="solid"/>
          </a:ln>
          <a:effectLst>
            <a:outerShdw blurRad="1935480000" dist="322580000"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62123" y="2360016"/>
            <a:ext cx="3520440" cy="5486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82163" y="2725776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53%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4682163" y="3960216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HK travelers use AI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82163" y="435340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plan their next trip.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82163" y="473745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Visa Consumer Study (Mar 2026)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47155" y="2360016"/>
            <a:ext cx="35204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F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47155" y="2360016"/>
            <a:ext cx="3520440" cy="5486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367195" y="2725776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52%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8367195" y="3960216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 prefer small group tours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67195" y="435340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than 2× the year prior.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67195" y="473745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Dragon Trail (Aug 2024)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3218" y="547333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TARGET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3218" y="570193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HK residents 22–45, mobile-first, plan 2–4 overseas trips/year — Japan, Korea, Taiwan, SEA. Travel in groups of 2–4. Annual travel spend HK$15K–60K.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 ·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869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multi-app — to one shared canvas.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0967" y="1820089"/>
            <a:ext cx="5212080" cy="402336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6727" y="2094409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AS-IS</a:t>
            </a:r>
            <a:endParaRPr lang="en-US" sz="1100" dirty="0">
              <a:solidFill>
                <a:srgbClr val="666666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016727" y="2368729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DIY workflow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16727" y="2963089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300" dirty="0">
              <a:solidFill>
                <a:srgbClr val="666666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291047" y="2963089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IG/TikTok/RED posts in scattered folders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6727" y="3383713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300" dirty="0">
              <a:solidFill>
                <a:srgbClr val="666666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291047" y="3383713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Manually search each place on Google Maps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16727" y="3804337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300" dirty="0">
              <a:solidFill>
                <a:srgbClr val="666666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91047" y="3804337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Dump addresses into a shared Google Sheet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16727" y="4224961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300" dirty="0">
              <a:solidFill>
                <a:srgbClr val="666666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91047" y="4224961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Argue in WhatsApp about the route and dates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16727" y="4645585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300" dirty="0">
              <a:solidFill>
                <a:srgbClr val="666666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91047" y="4645585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Manually cluster places by geography for each day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16727" y="5066209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300" dirty="0">
              <a:solidFill>
                <a:srgbClr val="666666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91047" y="5066209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Copy-paste hotel &amp; activity links to compare prices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28807" y="1820089"/>
            <a:ext cx="5212080" cy="40233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94567" y="2094409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Tripolr</a:t>
            </a:r>
            <a:endParaRPr lang="en-US" sz="1100" dirty="0">
              <a:solidFill>
                <a:srgbClr val="4F8EF7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94567" y="2368729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collaborative canvas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594567" y="2963089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>
              <a:solidFill>
                <a:srgbClr val="4F8EF7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868887" y="2963089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shared wishlist — all friends contribute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94567" y="3383713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>
              <a:solidFill>
                <a:srgbClr val="4F8EF7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68887" y="3383713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auto-extracts place names from social posts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94567" y="3804337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>
              <a:solidFill>
                <a:srgbClr val="4F8EF7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6868887" y="3804337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clusters places by geography → optimised days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94567" y="4224961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>
              <a:solidFill>
                <a:srgbClr val="4F8EF7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6868887" y="4224961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In-app voting &amp; comments — no more group-chat noise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94567" y="4645585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>
              <a:solidFill>
                <a:srgbClr val="4F8EF7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6868887" y="4645585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Refine in chat: 'add nightlife', 'shorter Day 2'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94567" y="5066209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300" dirty="0">
              <a:solidFill>
                <a:srgbClr val="4F8EF7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6868887" y="5066209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One-tap hotel &amp; activity booking via partner OTAs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 · INNOVATION &amp; TECHNICAL CHALLENGES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869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novel — and what's hard about building it.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100029" y="1786928"/>
            <a:ext cx="52120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100029" y="1786928"/>
            <a:ext cx="5212080" cy="5486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65789" y="20155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65789" y="228984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technically novel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65789" y="2884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2989" y="28842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Multi-source social extraction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22989" y="30983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Auto-parse Instagram, TikTok and 小紅書 (RED) posts into structured place data — names, addresses, hours.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65789" y="3615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22989" y="36157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itinerary generation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22989" y="38298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LangGraph-based AI agent clusters places by geography and optimises day-by-day sequence under real-world constraints.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65789" y="4347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22989" y="43472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multiplayer canvas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22989" y="45614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Figma-style collaborative trip editing — friends contribute concurrently, edits broadcast live across web and mobile.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65789" y="5078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22989" y="50787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Conversational refinement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22989" y="52929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Natural-language edits ('shorter Day 2', 'add nightlife') regenerate the full itinerary in seconds.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4962" y="1791500"/>
            <a:ext cx="52120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4962" y="1791500"/>
            <a:ext cx="5212080" cy="5486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40722" y="20201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CHALLENGES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40722" y="22944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hard to build well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40722" y="28887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97922" y="28887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Place disambiguation across platforms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97922" y="31029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venue tagged differently across IG / TikTok / RED — resolve to one canonical entity. Target ≥90% accuracy.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40722" y="36203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97922" y="36203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Constraint-aware geographic clustering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97922" y="38344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Minimise inter-place travel time across multi-day trips while respecting opening hours, transit links, and group energy.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40722" y="43518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497922" y="43518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consensus &amp; conflict surfacing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497922" y="45659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Voting + comment systems that surface disagreement early without freezing the plan or fragmenting the group.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40722" y="50833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497922" y="50833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Low-latency AI regeneration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497922" y="52975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Sub-second itinerary rebuild when a group has 50+ places. Streaming UX so users see progress, not spinners.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85800" y="6446520"/>
            <a:ext cx="941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Stack: LangGraph · GPT-4o-mini via OpenRouter · React/Next.js · React Native · PostgreSQL · WebSocket sync.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 · MARKET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869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with HK$8.5M obtainable — scale into a US$555B APAC market.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667578" y="2143558"/>
            <a:ext cx="3070820" cy="3030021"/>
          </a:xfrm>
          <a:prstGeom prst="ellipse">
            <a:avLst/>
          </a:prstGeom>
          <a:solidFill>
            <a:srgbClr val="E0E5EF"/>
          </a:solidFill>
          <a:ln w="12700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179382" y="2648561"/>
            <a:ext cx="2047214" cy="2020014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27742" y="3189637"/>
            <a:ext cx="950492" cy="937864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740692" y="2251773"/>
            <a:ext cx="2924591" cy="288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79382" y="2720705"/>
            <a:ext cx="2047214" cy="288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7742" y="3528711"/>
            <a:ext cx="950492" cy="252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73134" y="2287845"/>
            <a:ext cx="2193443" cy="216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  ·  YEAR 1 (Start Here)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73134" y="2397196"/>
            <a:ext cx="3290165" cy="396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HK$8.5M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173134" y="2753924"/>
            <a:ext cx="3290165" cy="288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Obtainable: ~1% of HK digital trip-planners × HK$120 ARPU. Validates affiliate-commission model.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92768" y="3276727"/>
            <a:ext cx="2193443" cy="216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  ·  HK CORE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92768" y="3386077"/>
            <a:ext cx="3290165" cy="396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HK$3.4B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892768" y="3742806"/>
            <a:ext cx="3290165" cy="288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~7M HK overseas trips/year × HK$485 planning + booking commission opportunity.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11825" y="4300444"/>
            <a:ext cx="2193443" cy="216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  ·  APAC 2027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11825" y="4409796"/>
            <a:ext cx="3290165" cy="396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US$555B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611825" y="4766524"/>
            <a:ext cx="3290165" cy="288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APAC online travel market by 2027 (Phocuswright, +7% CAGR) — long-term ceiling.</a:t>
            </a:r>
            <a:endParaRPr lang="en-US" sz="105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8DA1E94-BE7F-62E8-DD0F-93D092F9FF47}"/>
              </a:ext>
            </a:extLst>
          </p:cNvPr>
          <p:cNvGrpSpPr/>
          <p:nvPr/>
        </p:nvGrpSpPr>
        <p:grpSpPr>
          <a:xfrm>
            <a:off x="685800" y="5675417"/>
            <a:ext cx="10437395" cy="421369"/>
            <a:chOff x="685800" y="5628361"/>
            <a:chExt cx="10789920" cy="502934"/>
          </a:xfrm>
        </p:grpSpPr>
        <p:sp>
          <p:nvSpPr>
            <p:cNvPr id="20" name="Shape 18"/>
            <p:cNvSpPr/>
            <p:nvPr/>
          </p:nvSpPr>
          <p:spPr>
            <a:xfrm>
              <a:off x="685800" y="5628361"/>
              <a:ext cx="10789920" cy="502920"/>
            </a:xfrm>
            <a:prstGeom prst="rect">
              <a:avLst/>
            </a:prstGeom>
            <a:solidFill>
              <a:srgbClr val="F4F6FB"/>
            </a:solidFill>
            <a:ln w="12700">
              <a:solidFill>
                <a:srgbClr val="E0E5EF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914400" y="5628375"/>
              <a:ext cx="201168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 kern="0" spc="200" dirty="0">
                  <a:solidFill>
                    <a:srgbClr val="4F8EF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GROWTH POTENTIAL</a:t>
              </a:r>
              <a:endParaRPr lang="en-US" sz="10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2926080" y="5628375"/>
              <a:ext cx="83667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11111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+7% CAGR</a:t>
              </a:r>
              <a:r>
                <a:rPr lang="en-US" sz="1050" dirty="0">
                  <a:solidFill>
                    <a:srgbClr val="11111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 APAC online travel    </a:t>
              </a:r>
              <a:r>
                <a:rPr lang="en-US" sz="1050" dirty="0">
                  <a:solidFill>
                    <a:srgbClr val="E0E5E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·    </a:t>
              </a:r>
              <a:r>
                <a:rPr lang="en-US" sz="1050" b="1" dirty="0">
                  <a:solidFill>
                    <a:srgbClr val="11111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Year 2 → TW + SG</a:t>
              </a:r>
              <a:r>
                <a:rPr lang="en-US" sz="1050" dirty="0">
                  <a:solidFill>
                    <a:srgbClr val="11111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 (HK$1.2B SAM uplift)    </a:t>
              </a:r>
              <a:r>
                <a:rPr lang="en-US" sz="1050" dirty="0">
                  <a:solidFill>
                    <a:srgbClr val="E0E5E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·    </a:t>
              </a:r>
              <a:r>
                <a:rPr lang="en-US" sz="1050" b="1" dirty="0">
                  <a:solidFill>
                    <a:srgbClr val="11111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Year 3 → JP + KR</a:t>
              </a:r>
              <a:r>
                <a:rPr lang="en-US" sz="1050" dirty="0">
                  <a:solidFill>
                    <a:srgbClr val="11111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 (full APAC inbound + outbound)</a:t>
              </a:r>
              <a:endParaRPr lang="en-US" sz="1050" dirty="0"/>
            </a:p>
          </p:txBody>
        </p:sp>
      </p:grpSp>
      <p:sp>
        <p:nvSpPr>
          <p:cNvPr id="23" name="Text 21"/>
          <p:cNvSpPr/>
          <p:nvPr/>
        </p:nvSpPr>
        <p:spPr>
          <a:xfrm>
            <a:off x="685800" y="6446520"/>
            <a:ext cx="941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Phocuswright APAC 2025 (US$555.4B by 2027); HK Census &amp; Statistics Dept; Travelpayouts/Hotellook commission rates 4–7%.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 · COMPETITIVE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869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Tripolr wins — the white space nobody owns.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39802" y="1917830"/>
            <a:ext cx="6400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40202" y="1917830"/>
            <a:ext cx="0" cy="3017520"/>
          </a:xfrm>
          <a:prstGeom prst="line">
            <a:avLst/>
          </a:prstGeom>
          <a:noFill/>
          <a:ln w="9525">
            <a:solidFill>
              <a:srgbClr val="E0E5E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39802" y="3426590"/>
            <a:ext cx="6400800" cy="0"/>
          </a:xfrm>
          <a:prstGeom prst="line">
            <a:avLst/>
          </a:prstGeom>
          <a:noFill/>
          <a:ln w="9525">
            <a:solidFill>
              <a:srgbClr val="E0E5E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5929" y="3440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SINGLE-PLAYER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14075" y="3440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MULTIPLAYER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77761" y="1605406"/>
            <a:ext cx="2141873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AI-NATIVE GENERATION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77761" y="4960391"/>
            <a:ext cx="2141873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ENTRY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22698" y="4282468"/>
            <a:ext cx="219456" cy="219456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87874" y="42458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Wanderlog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98570" y="4523870"/>
            <a:ext cx="219456" cy="219456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63746" y="448729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TripIt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82218" y="2351256"/>
            <a:ext cx="219456" cy="219456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147394" y="2314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Mindtrip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370154" y="2653008"/>
            <a:ext cx="219456" cy="219456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635330" y="26164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Layla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38250" y="2864234"/>
            <a:ext cx="219456" cy="219456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403426" y="282765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Wonderplan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50114" y="2049504"/>
            <a:ext cx="219456" cy="219456"/>
          </a:xfrm>
          <a:prstGeom prst="ellips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315290" y="20129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ChatGPT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97602" y="2097052"/>
            <a:ext cx="365760" cy="36576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62966" y="2052848"/>
            <a:ext cx="568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Tripolr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42578" y="2542665"/>
            <a:ext cx="1227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i="1" kern="0" spc="100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WHITE SPACE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52082" y="191783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WEDGE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52082" y="223787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Multiplayer canvas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AI-native generation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Social-media extraction</a:t>
            </a:r>
            <a:endParaRPr lang="en-US" sz="16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APAC localisation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52082" y="374663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Wanderlog has multiplayer but no AI. Mindtrip &amp; Layla are AI-first but US-centric and weak on group editing. Trip.com &amp; Klook AI route only their own inventory. Nobody has all four.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5800" y="5592790"/>
            <a:ext cx="107899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14400" y="559279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COMPETITORS — CHANNEL PARTNERS:  </a:t>
            </a:r>
            <a:r>
              <a:rPr lang="en-US" sz="10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Klook · Trip.com · Booking.com · Agoda · GetYourGuide · Viator pay us 4–10% commission to send qualified, high-intent travelers.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5800" y="6446520"/>
            <a:ext cx="941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Crunchbase / TechCrunch / company sites (Mindtrip, Layla, Wanderlog, TripIt — accessed 2026); SwipeSights competitor analysis (Mar 2026).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 · FEATURE 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869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Feature-by-feature: only Tripolr ships all six.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28540"/>
            <a:ext cx="4023360" cy="45720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728540"/>
            <a:ext cx="3694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09160" y="1728540"/>
            <a:ext cx="1127760" cy="457200"/>
          </a:xfrm>
          <a:prstGeom prst="rect">
            <a:avLst/>
          </a:prstGeom>
          <a:solidFill>
            <a:srgbClr val="4F8EF7"/>
          </a:solidFill>
          <a:ln w="12700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09160" y="1728540"/>
            <a:ext cx="112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Tripolr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36920" y="1728540"/>
            <a:ext cx="1127760" cy="45720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836920" y="1728540"/>
            <a:ext cx="112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Mindtrip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964680" y="1728540"/>
            <a:ext cx="1127760" cy="45720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964680" y="1728540"/>
            <a:ext cx="112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Layla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2440" y="1728540"/>
            <a:ext cx="1127760" cy="45720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92440" y="1728540"/>
            <a:ext cx="112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Wanderlog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220200" y="1728540"/>
            <a:ext cx="1127760" cy="45720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220200" y="1728540"/>
            <a:ext cx="112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ChatGPT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347960" y="1728540"/>
            <a:ext cx="1127760" cy="45720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347960" y="1728540"/>
            <a:ext cx="112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Trip.com</a:t>
            </a:r>
            <a:r>
              <a:rPr lang="zh-TW" altLang="en-US" sz="11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altLang="zh-TW" sz="11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GENIE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2185740"/>
            <a:ext cx="4023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50392" y="2185740"/>
            <a:ext cx="3694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Multiplayer / real-time group editing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185740"/>
            <a:ext cx="1127760" cy="384048"/>
          </a:xfrm>
          <a:prstGeom prst="rect">
            <a:avLst/>
          </a:prstGeom>
          <a:solidFill>
            <a:srgbClr val="EAF2FE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9160" y="2185740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36920" y="2185740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36920" y="2185740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964680" y="2185740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64680" y="2185740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092440" y="2185740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092440" y="2185740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CB3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220200" y="2185740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220200" y="2185740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347960" y="2185740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347960" y="2185740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85800" y="2569788"/>
            <a:ext cx="4023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50392" y="2569788"/>
            <a:ext cx="3694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AI-generated itineraries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2569788"/>
            <a:ext cx="1127760" cy="384048"/>
          </a:xfrm>
          <a:prstGeom prst="rect">
            <a:avLst/>
          </a:prstGeom>
          <a:solidFill>
            <a:srgbClr val="EAF2FE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09160" y="2569788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836920" y="2569788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836920" y="2569788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CB3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964680" y="2569788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964680" y="2569788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CB3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092440" y="2569788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092440" y="2569788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9220200" y="2569788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220200" y="2569788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CB3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0347960" y="2569788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0347960" y="2569788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CB3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85800" y="2953836"/>
            <a:ext cx="4023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50392" y="2953836"/>
            <a:ext cx="3694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Imports IG / TikTok / 小紅書 (RED) saves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709160" y="2953836"/>
            <a:ext cx="1127760" cy="384048"/>
          </a:xfrm>
          <a:prstGeom prst="rect">
            <a:avLst/>
          </a:prstGeom>
          <a:solidFill>
            <a:srgbClr val="EAF2FE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709160" y="2953836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836920" y="2953836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836920" y="2953836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6964680" y="2953836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964680" y="2953836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8092440" y="2953836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8092440" y="2953836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9220200" y="2953836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220200" y="2953836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10347960" y="2953836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0347960" y="2953836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685800" y="3337884"/>
            <a:ext cx="4023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850392" y="3337884"/>
            <a:ext cx="3694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In-app voting &amp; group consensus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4709160" y="3337884"/>
            <a:ext cx="1127760" cy="384048"/>
          </a:xfrm>
          <a:prstGeom prst="rect">
            <a:avLst/>
          </a:prstGeom>
          <a:solidFill>
            <a:srgbClr val="EAF2FE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709160" y="3337884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5836920" y="3337884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836920" y="3337884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6964680" y="3337884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964680" y="3337884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8092440" y="3337884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8092440" y="3337884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◐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9220200" y="3337884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9220200" y="3337884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10347960" y="3337884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10347960" y="3337884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685800" y="3721932"/>
            <a:ext cx="4023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850392" y="3721932"/>
            <a:ext cx="3694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Conversational refinement ('shorter Day 2')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4709160" y="3721932"/>
            <a:ext cx="1127760" cy="384048"/>
          </a:xfrm>
          <a:prstGeom prst="rect">
            <a:avLst/>
          </a:prstGeom>
          <a:solidFill>
            <a:srgbClr val="EAF2FE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709160" y="3721932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5836920" y="3721932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5836920" y="3721932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CB3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6964680" y="3721932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6964680" y="3721932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CB3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8092440" y="3721932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8092440" y="3721932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84" name="Shape 82"/>
          <p:cNvSpPr/>
          <p:nvPr/>
        </p:nvSpPr>
        <p:spPr>
          <a:xfrm>
            <a:off x="9220200" y="3721932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9220200" y="3721932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CB3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10347960" y="3721932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pPr algn="ctr"/>
            <a:r>
              <a:rPr lang="en-US" sz="1800" b="1" dirty="0">
                <a:solidFill>
                  <a:srgbClr val="3CB3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10347960" y="3721932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685800" y="4105980"/>
            <a:ext cx="4023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850392" y="4105980"/>
            <a:ext cx="3694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APAC localisation (HK / TW / JP / KR / SEA)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4709160" y="4105980"/>
            <a:ext cx="1127760" cy="384048"/>
          </a:xfrm>
          <a:prstGeom prst="rect">
            <a:avLst/>
          </a:prstGeom>
          <a:solidFill>
            <a:srgbClr val="EAF2FE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4709160" y="4105980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5836920" y="4105980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5836920" y="4105980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94" name="Shape 92"/>
          <p:cNvSpPr/>
          <p:nvPr/>
        </p:nvSpPr>
        <p:spPr>
          <a:xfrm>
            <a:off x="6964680" y="4105980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6964680" y="4105980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96" name="Shape 94"/>
          <p:cNvSpPr/>
          <p:nvPr/>
        </p:nvSpPr>
        <p:spPr>
          <a:xfrm>
            <a:off x="8092440" y="4105980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8092440" y="4105980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◐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9220200" y="4105980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9220200" y="4105980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◐</a:t>
            </a:r>
            <a:endParaRPr lang="en-US" sz="1300" dirty="0"/>
          </a:p>
        </p:txBody>
      </p:sp>
      <p:sp>
        <p:nvSpPr>
          <p:cNvPr id="100" name="Shape 98"/>
          <p:cNvSpPr/>
          <p:nvPr/>
        </p:nvSpPr>
        <p:spPr>
          <a:xfrm>
            <a:off x="10347960" y="4105980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10347960" y="4105980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CB3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102" name="Shape 100"/>
          <p:cNvSpPr/>
          <p:nvPr/>
        </p:nvSpPr>
        <p:spPr>
          <a:xfrm>
            <a:off x="685800" y="4490028"/>
            <a:ext cx="4023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850392" y="4490028"/>
            <a:ext cx="3694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Multi-OTA booking (not locked to one inventory)</a:t>
            </a:r>
            <a:endParaRPr lang="en-US" sz="1050" dirty="0"/>
          </a:p>
        </p:txBody>
      </p:sp>
      <p:sp>
        <p:nvSpPr>
          <p:cNvPr id="104" name="Shape 102"/>
          <p:cNvSpPr/>
          <p:nvPr/>
        </p:nvSpPr>
        <p:spPr>
          <a:xfrm>
            <a:off x="4709160" y="4490028"/>
            <a:ext cx="1127760" cy="384048"/>
          </a:xfrm>
          <a:prstGeom prst="rect">
            <a:avLst/>
          </a:prstGeom>
          <a:solidFill>
            <a:srgbClr val="EAF2FE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4709160" y="4490028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106" name="Shape 104"/>
          <p:cNvSpPr/>
          <p:nvPr/>
        </p:nvSpPr>
        <p:spPr>
          <a:xfrm>
            <a:off x="5836920" y="4490028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5836920" y="4490028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CB3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108" name="Shape 106"/>
          <p:cNvSpPr/>
          <p:nvPr/>
        </p:nvSpPr>
        <p:spPr>
          <a:xfrm>
            <a:off x="6964680" y="4490028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6964680" y="4490028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◐</a:t>
            </a:r>
            <a:endParaRPr lang="en-US" sz="1300" dirty="0"/>
          </a:p>
        </p:txBody>
      </p:sp>
      <p:sp>
        <p:nvSpPr>
          <p:cNvPr id="110" name="Shape 108"/>
          <p:cNvSpPr/>
          <p:nvPr/>
        </p:nvSpPr>
        <p:spPr>
          <a:xfrm>
            <a:off x="8092440" y="4490028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8092440" y="4490028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◐</a:t>
            </a:r>
            <a:endParaRPr lang="en-US" sz="1300" dirty="0"/>
          </a:p>
        </p:txBody>
      </p:sp>
      <p:sp>
        <p:nvSpPr>
          <p:cNvPr id="112" name="Shape 110"/>
          <p:cNvSpPr/>
          <p:nvPr/>
        </p:nvSpPr>
        <p:spPr>
          <a:xfrm>
            <a:off x="9220200" y="4490028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9220200" y="4490028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114" name="Shape 112"/>
          <p:cNvSpPr/>
          <p:nvPr/>
        </p:nvSpPr>
        <p:spPr>
          <a:xfrm>
            <a:off x="10347960" y="4490028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10347960" y="4490028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116" name="Shape 114"/>
          <p:cNvSpPr/>
          <p:nvPr/>
        </p:nvSpPr>
        <p:spPr>
          <a:xfrm>
            <a:off x="685800" y="4874076"/>
            <a:ext cx="4023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850392" y="4874076"/>
            <a:ext cx="3694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Hong Kong / Cantonese-first UX</a:t>
            </a:r>
            <a:endParaRPr lang="en-US" sz="1050" dirty="0"/>
          </a:p>
        </p:txBody>
      </p:sp>
      <p:sp>
        <p:nvSpPr>
          <p:cNvPr id="118" name="Shape 116"/>
          <p:cNvSpPr/>
          <p:nvPr/>
        </p:nvSpPr>
        <p:spPr>
          <a:xfrm>
            <a:off x="4709160" y="4874076"/>
            <a:ext cx="1127760" cy="384048"/>
          </a:xfrm>
          <a:prstGeom prst="rect">
            <a:avLst/>
          </a:prstGeom>
          <a:solidFill>
            <a:srgbClr val="EAF2FE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4709160" y="4874076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120" name="Shape 118"/>
          <p:cNvSpPr/>
          <p:nvPr/>
        </p:nvSpPr>
        <p:spPr>
          <a:xfrm>
            <a:off x="5836920" y="4874076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5836920" y="4874076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122" name="Shape 120"/>
          <p:cNvSpPr/>
          <p:nvPr/>
        </p:nvSpPr>
        <p:spPr>
          <a:xfrm>
            <a:off x="6964680" y="4874076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6964680" y="4874076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124" name="Shape 122"/>
          <p:cNvSpPr/>
          <p:nvPr/>
        </p:nvSpPr>
        <p:spPr>
          <a:xfrm>
            <a:off x="8092440" y="4874076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23"/>
          <p:cNvSpPr/>
          <p:nvPr/>
        </p:nvSpPr>
        <p:spPr>
          <a:xfrm>
            <a:off x="8092440" y="4874076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126" name="Shape 124"/>
          <p:cNvSpPr/>
          <p:nvPr/>
        </p:nvSpPr>
        <p:spPr>
          <a:xfrm>
            <a:off x="9220200" y="4874076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125"/>
          <p:cNvSpPr/>
          <p:nvPr/>
        </p:nvSpPr>
        <p:spPr>
          <a:xfrm>
            <a:off x="9220200" y="4874076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400" dirty="0"/>
          </a:p>
        </p:txBody>
      </p:sp>
      <p:sp>
        <p:nvSpPr>
          <p:cNvPr id="128" name="Shape 126"/>
          <p:cNvSpPr/>
          <p:nvPr/>
        </p:nvSpPr>
        <p:spPr>
          <a:xfrm>
            <a:off x="10347960" y="4874076"/>
            <a:ext cx="11277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/>
          <p:nvPr/>
        </p:nvSpPr>
        <p:spPr>
          <a:xfrm>
            <a:off x="10347960" y="4874076"/>
            <a:ext cx="112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CB3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130" name="Text 128"/>
          <p:cNvSpPr/>
          <p:nvPr/>
        </p:nvSpPr>
        <p:spPr>
          <a:xfrm>
            <a:off x="685800" y="5285556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CB3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Full support     </a:t>
            </a: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◐</a:t>
            </a: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Partial / limited     </a:t>
            </a:r>
            <a:r>
              <a:rPr lang="en-US" sz="11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r>
              <a:rPr lang="en-US" sz="10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Not supported</a:t>
            </a:r>
            <a:endParaRPr lang="en-US" sz="1100" dirty="0"/>
          </a:p>
        </p:txBody>
      </p:sp>
      <p:sp>
        <p:nvSpPr>
          <p:cNvPr id="133" name="Text 131"/>
          <p:cNvSpPr/>
          <p:nvPr/>
        </p:nvSpPr>
        <p:spPr>
          <a:xfrm>
            <a:off x="685800" y="6446520"/>
            <a:ext cx="941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Company websites &amp; product reviews — Mindtrip, Layla, Wanderlog, ChatGPT, Klook (accessed 2026).</a:t>
            </a:r>
            <a:endParaRPr lang="en-US" sz="800" dirty="0"/>
          </a:p>
        </p:txBody>
      </p:sp>
      <p:sp>
        <p:nvSpPr>
          <p:cNvPr id="134" name="Text 132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869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Asset-light. Commission-based. We earn when our users book.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974145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never compete with OTAs. We send them qualified demand and earn an affiliate fee on every booking.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497754"/>
            <a:ext cx="5486400" cy="566928"/>
          </a:xfrm>
          <a:prstGeom prst="rect">
            <a:avLst/>
          </a:prstGeom>
          <a:solidFill>
            <a:srgbClr val="E0E5EF"/>
          </a:solidFill>
          <a:ln w="12700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49775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INSPIRE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57400" y="249775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saves IG/TikTok posts to shared wishlist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3137834"/>
            <a:ext cx="4754880" cy="5669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313783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57400" y="313783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generates optimised group itinerary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3777914"/>
            <a:ext cx="4023360" cy="56692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377791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57400" y="3777914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votes, AI rebuilds in seconds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4417994"/>
            <a:ext cx="3291840" cy="56692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441799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57400" y="441799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Hotel &amp; activity booking via partner OTAs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5058074"/>
            <a:ext cx="2560320" cy="56692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505807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57400" y="505807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5–10% affiliate commission on every booking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0" y="249775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ECONOMICS  ·  PER CONVERTED COUPLE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32320" y="286351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Hotel commission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235440" y="286351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HK$363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0" y="3082970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5% × HK$7,276 avg booking (HK→Japan, couple)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32320" y="3284138"/>
            <a:ext cx="4343400" cy="0"/>
          </a:xfrm>
          <a:prstGeom prst="line">
            <a:avLst/>
          </a:prstGeom>
          <a:noFill/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32320" y="330242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Activity commission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35440" y="330242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HK$72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32320" y="3521882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8% × HK$900 avg activity spend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132320" y="3723050"/>
            <a:ext cx="4343400" cy="0"/>
          </a:xfrm>
          <a:prstGeom prst="line">
            <a:avLst/>
          </a:prstGeom>
          <a:noFill/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32320" y="374133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per couple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235440" y="374133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HK$435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132320" y="3960794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fully-converted booking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132320" y="4161962"/>
            <a:ext cx="4343400" cy="0"/>
          </a:xfrm>
          <a:prstGeom prst="line">
            <a:avLst/>
          </a:prstGeom>
          <a:noFill/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132320" y="418025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+ API cost per plan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235440" y="418025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HK$0.08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132320" y="4399706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OpenRouter and Google API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132320" y="4600874"/>
            <a:ext cx="4343400" cy="0"/>
          </a:xfrm>
          <a:prstGeom prst="line">
            <a:avLst/>
          </a:prstGeom>
          <a:noFill/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132320" y="461916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+ DB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235440" y="461916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HK$0.40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132320" y="4838618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generated itinerary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132320" y="5039786"/>
            <a:ext cx="4343400" cy="0"/>
          </a:xfrm>
          <a:prstGeom prst="line">
            <a:avLst/>
          </a:prstGeom>
          <a:noFill/>
          <a:ln w="9525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132320" y="505807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Gross margin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235440" y="505807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&gt;99%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132320" y="5277530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user-acquisition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5800" y="58833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WE SURVIVE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85799" y="6130216"/>
            <a:ext cx="110750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$0.048 cost per plan + 99% gross margin + organic IG/RED acquisition = profitable on the first booking. 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85800" y="6446520"/>
            <a:ext cx="9418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Travelpayouts/Booking.com/Agoda/Viator affiliate rate cards (2024–25); JNTO Q1 2024; OpenAI GPT-4o-mini pricing.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 · KEY MILESTONES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869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12-month plan with HK$100K seed — validation in parallel with growth.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2594610" cy="3246120"/>
          </a:xfrm>
          <a:prstGeom prst="rect">
            <a:avLst/>
          </a:prstGeom>
          <a:solidFill>
            <a:srgbClr val="E0E5EF"/>
          </a:solidFill>
          <a:ln w="12700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2423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2807208"/>
            <a:ext cx="2045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PROBLEM-FIT VALIDATION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2045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i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Beta + 100 users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60120" y="3611880"/>
            <a:ext cx="2045970" cy="0"/>
          </a:xfrm>
          <a:prstGeom prst="line">
            <a:avLst/>
          </a:prstGeom>
          <a:noFill/>
          <a:ln w="6350">
            <a:solidFill>
              <a:srgbClr val="11111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3703320"/>
            <a:ext cx="20459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60120" y="3904488"/>
            <a:ext cx="20459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30 user interviews (HK 22–45)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4151376"/>
            <a:ext cx="20459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Competitor teardown (5 players)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0120" y="4398264"/>
            <a:ext cx="20459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AI place-resolution to ≥90%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4718304"/>
            <a:ext cx="20459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GROW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60120" y="4919472"/>
            <a:ext cx="20459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Closed waitlist live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5166360"/>
            <a:ext cx="20459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Pricing test (HK$60/120/240)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17570" y="2240280"/>
            <a:ext cx="2594610" cy="324612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91890" y="2423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91890" y="2807208"/>
            <a:ext cx="2045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PROTOTYPE &amp; TRIALS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91890" y="3063240"/>
            <a:ext cx="2045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launch + first revenue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91890" y="3611880"/>
            <a:ext cx="204597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91890" y="3703320"/>
            <a:ext cx="20459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91890" y="3904488"/>
            <a:ext cx="20459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A/B test booking funnel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91890" y="4151376"/>
            <a:ext cx="20459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OTA partnership trials ×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91890" y="4398264"/>
            <a:ext cx="20459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Itinerary-quality user studies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91890" y="4718304"/>
            <a:ext cx="20459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GROW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91890" y="4919472"/>
            <a:ext cx="20459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iOS + Android launch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91890" y="5166360"/>
            <a:ext cx="20459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Hotel booking live (Booking/Agoda)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49340" y="2240280"/>
            <a:ext cx="2594610" cy="32461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23660" y="2423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423660" y="2807208"/>
            <a:ext cx="2045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PARTNERSHIPS &amp; GROWTH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23660" y="3063240"/>
            <a:ext cx="2045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5,000 registered users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23660" y="3611880"/>
            <a:ext cx="204597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23660" y="3703320"/>
            <a:ext cx="20459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423660" y="3904488"/>
            <a:ext cx="20459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10 KOL co-creation experiments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23660" y="4151376"/>
            <a:ext cx="20459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Retention cohort analysis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23660" y="4398264"/>
            <a:ext cx="20459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Activity-mix R&amp;D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23660" y="4718304"/>
            <a:ext cx="20459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GROW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423660" y="4919472"/>
            <a:ext cx="20459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Activity booking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23660" y="5166360"/>
            <a:ext cx="20459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Group-share virality loop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881110" y="2240280"/>
            <a:ext cx="2594610" cy="32461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155430" y="2423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Q4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9155430" y="2807208"/>
            <a:ext cx="2045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 &amp; RAISE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155430" y="3063240"/>
            <a:ext cx="2045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i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25K MAU + pre-seed close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9155430" y="3611880"/>
            <a:ext cx="2045970" cy="0"/>
          </a:xfrm>
          <a:prstGeom prst="line">
            <a:avLst/>
          </a:prstGeom>
          <a:noFill/>
          <a:ln w="6350">
            <a:solidFill>
              <a:srgbClr val="11111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155430" y="3703320"/>
            <a:ext cx="20459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9155430" y="3904488"/>
            <a:ext cx="20459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TW + SG market research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9155430" y="4151376"/>
            <a:ext cx="20459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Flight-booking feasibility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155430" y="4398264"/>
            <a:ext cx="20459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Pre-seed traction data room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155430" y="4718304"/>
            <a:ext cx="20459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GROW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9155430" y="4919472"/>
            <a:ext cx="20459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TW + SG soft-launch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155430" y="5166360"/>
            <a:ext cx="20459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Close HK$3M pre-seed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85800" y="5650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HK$100K SEED ALLOCATION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85800" y="5925312"/>
            <a:ext cx="3236976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85800" y="5925312"/>
            <a:ext cx="3236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30%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85800" y="6300216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/ API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922776" y="5925312"/>
            <a:ext cx="2697480" cy="347472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922776" y="592531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25%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922776" y="630021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Marketing / KOLs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620256" y="5925312"/>
            <a:ext cx="2157984" cy="34747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620256" y="5925312"/>
            <a:ext cx="21579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20%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620256" y="6300216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research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8778240" y="5925312"/>
            <a:ext cx="1618488" cy="347472"/>
          </a:xfrm>
          <a:prstGeom prst="rect">
            <a:avLst/>
          </a:prstGeom>
          <a:solidFill>
            <a:srgbClr val="E0E5EF"/>
          </a:solidFill>
          <a:ln w="12700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8778240" y="5925312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15%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778240" y="6300216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/ DevOps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10396728" y="5925312"/>
            <a:ext cx="1078992" cy="34747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10396728" y="5925312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10%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0396728" y="630021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Legal / IP / Misc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 ·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869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founder today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155448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2240280"/>
            <a:ext cx="1554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 Photo 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0" y="2240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Hadrian Yuen Chi Wang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0" y="26974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Founder &amp; CEO  ·  Sole founder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304495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BSc Computing Mathematics, City University of Hong Kong (2020–2024)</a:t>
            </a:r>
            <a:endParaRPr lang="en-US" sz="105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3+ years in banking, fintech &amp; AI delivery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60320" y="37490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EXPERIENCE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60320" y="39959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DBS Bank · Manulife · Bank of China (HK) · AutoML Capital · Fusion Bank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635240" y="2240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ONE FOUNDER HAS SHIPPED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35240" y="25603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MVP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0" y="2560320"/>
            <a:ext cx="3063240" cy="291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across Web (uat.tripolr.com)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635240" y="29116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12480" y="2911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Full-stack solo build — FastAPI · Next.js · React Native · LangGraph · Postgres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635240" y="33231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core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0" y="3323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Multi-source social extraction + agentic itinerary generation working end-to-end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635240" y="37346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12480" y="3734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HK$0.48 per generated plan — 99%+ gross margin already proven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4617720"/>
            <a:ext cx="3657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F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86968" y="4754880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AI/LLM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86968" y="5038344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GPT-4, LangGraph, prompt engineering, OpenRouter. Built GPT-3 stock advisory bot at AutoML (90% user satisfaction).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80560" y="4617720"/>
            <a:ext cx="3657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F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81728" y="4754880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FULL-STACK DELIVERY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81728" y="5038344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Python/FastAPI · TypeScript · React · Next.js · Spring Boot · PostgreSQL · Docker. Solo-shipped Tripolr's full web + mobile MVP.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75320" y="4617720"/>
            <a:ext cx="3657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F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476488" y="4754880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REGULATED-INDUSTRY RIGOUR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476488" y="5038344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HKMA / PDPO compliance · UAT · enterprise SDLC. Cantonese/Mandarin native — deep HK &amp; GBA travel-market understanding.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5800" y="5742432"/>
            <a:ext cx="10789920" cy="502920"/>
          </a:xfrm>
          <a:prstGeom prst="rect">
            <a:avLst/>
          </a:prstGeom>
          <a:solidFill>
            <a:srgbClr val="F4F6FB"/>
          </a:solidFill>
          <a:ln w="12700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14400" y="574243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00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HIRING WITH HKSTP SUPPORT:  </a:t>
            </a:r>
            <a:r>
              <a:rPr lang="en-US" sz="10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 part-time growth/KOL lead  ·  Q2 mobile engineer (post-revenue)  ·  Q3 first full-time hire on pre-seed close. </a:t>
            </a:r>
            <a:r>
              <a:rPr lang="en-US" sz="1000" i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Targeting Science Park travel-tech &amp; AI mentors as advisors.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 · WHY HKSTP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88696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right partner to launch Tripolr in Hong Kong.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034538"/>
            <a:ext cx="33832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F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21741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221741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Funding Runway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601466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HK$100K = 12+ months of API + cloud + research. De-risks pre-seed.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33672" y="2034538"/>
            <a:ext cx="33832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F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62272" y="221741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19472" y="221741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Mentorship Network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19472" y="2601466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Travel-tech mentors + AI/ML domain experts to refine product-market fit.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3616450"/>
            <a:ext cx="33832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F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379933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379933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Ecosystem &amp; Partners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418337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intros to InvestHK, HKTB, Cathay/HKExpress, APAC OTA partners.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33672" y="3616450"/>
            <a:ext cx="33832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F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62272" y="379933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19472" y="379933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Talent &amp; Co-working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19472" y="418337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Science Park base, university talent pipeline, Incub-AI graduation path.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982712" y="203453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HK LANDING PLAN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92440" y="2537458"/>
            <a:ext cx="0" cy="2468880"/>
          </a:xfrm>
          <a:prstGeom prst="line">
            <a:avLst/>
          </a:prstGeom>
          <a:noFill/>
          <a:ln w="25400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019288" y="2464306"/>
            <a:ext cx="146304" cy="146304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75320" y="240944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 1–3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75320" y="262889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Incorporate HK Ltd. · Science Park base of operations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019288" y="3122674"/>
            <a:ext cx="146304" cy="146304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75320" y="306781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 4–6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75320" y="328726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launch · 5,000 users · hotel revenue live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019288" y="3781042"/>
            <a:ext cx="146304" cy="146304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75320" y="372617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 7–9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75320" y="394563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KOL partnerships · TW expansion · activity booking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019288" y="4439410"/>
            <a:ext cx="146304" cy="146304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75320" y="438454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 10–12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75320" y="460400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25K MAU · close pre-seed · Incub-AI application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85800" y="5248167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FIT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" y="5495055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Tripolr advances HK's positioning as Asia's smart-tourism hub — directly aligned with HKTB &amp; InvestHK's I&amp;T agenda for Greater Bay Area travel-tech leadership.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247120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1125183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719543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kern="0" spc="-1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together. Book once.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85800" y="2633943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kern="0" spc="-1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Travel better</a:t>
            </a:r>
            <a:r>
              <a:rPr lang="en-US" sz="5200" b="1" kern="0" spc="-100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5200" dirty="0">
              <a:solidFill>
                <a:srgbClr val="4F8EF7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35516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make travelers fall in love with planning again.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4937760"/>
            <a:ext cx="10058400" cy="0"/>
          </a:xfrm>
          <a:prstGeom prst="line">
            <a:avLst/>
          </a:prstGeom>
          <a:noFill/>
          <a:ln w="12700">
            <a:solidFill>
              <a:srgbClr val="E0E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5074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Hadrian Yuen Chi Wang  ·  Founder &amp; CEO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  </a:t>
            </a:r>
            <a:r>
              <a:rPr lang="en-US" sz="1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chiwangyuen@gmail.com</a:t>
            </a: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 Phone   </a:t>
            </a:r>
            <a:r>
              <a:rPr lang="en-US" sz="1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+852 9707 1013</a:t>
            </a: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 Web   </a:t>
            </a:r>
            <a:r>
              <a:rPr lang="en-US" sz="1200" b="1" dirty="0">
                <a:solidFill>
                  <a:srgbClr val="4F8E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uat.tripolr.com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Beta access on request — Web live now.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2128</Words>
  <Application>Microsoft Office PowerPoint</Application>
  <PresentationFormat>Widescreen</PresentationFormat>
  <Paragraphs>376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Tripolr — HKSTP Ideation Seed Fund Pitch</dc:title>
  <dc:subject>PptxGenJS Presentation</dc:subject>
  <dc:creator>Hadrian Yuen Chi Wang</dc:creator>
  <cp:lastModifiedBy>chiwang yuen</cp:lastModifiedBy>
  <cp:revision>13</cp:revision>
  <cp:lastPrinted>2026-04-26T15:35:28Z</cp:lastPrinted>
  <dcterms:created xsi:type="dcterms:W3CDTF">2026-04-26T14:33:23Z</dcterms:created>
  <dcterms:modified xsi:type="dcterms:W3CDTF">2026-04-26T17:19:47Z</dcterms:modified>
</cp:coreProperties>
</file>